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3" r:id="rId4"/>
    <p:sldId id="283" r:id="rId5"/>
    <p:sldId id="264" r:id="rId6"/>
    <p:sldId id="269" r:id="rId7"/>
    <p:sldId id="285" r:id="rId8"/>
    <p:sldId id="271" r:id="rId9"/>
    <p:sldId id="274" r:id="rId10"/>
    <p:sldId id="286" r:id="rId11"/>
    <p:sldId id="272" r:id="rId12"/>
    <p:sldId id="27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8" autoAdjust="0"/>
    <p:restoredTop sz="94660"/>
  </p:normalViewPr>
  <p:slideViewPr>
    <p:cSldViewPr snapToGrid="0">
      <p:cViewPr>
        <p:scale>
          <a:sx n="70" d="100"/>
          <a:sy n="70" d="100"/>
        </p:scale>
        <p:origin x="2040" y="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585BAD9-7E1D-5576-825F-BB0D65025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482AD809-44EF-38EF-7D36-3082DB9D6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ABE52D9B-7E8A-C9B7-2BEA-8C492A6B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E907-CFD3-4407-84E6-1FE0F27A6E0D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FBF35B0-D446-9430-E0EC-5D64E5D49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F6E9B1CF-918E-4A48-11B8-15EED2146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BDE6-2C1C-48F2-A498-78746695C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427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8E5F2A9-368F-76F1-CFF6-C298E0803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08F7226-074D-7A23-DE47-5DCBF5D0A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CEACFF88-5AF5-F8D8-DBDD-14078E26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E907-CFD3-4407-84E6-1FE0F27A6E0D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626E4E04-7F69-D65E-56E9-6F5A2A4ED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4DB1F8D0-F543-E6FF-DA18-F13928C55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BDE6-2C1C-48F2-A498-78746695C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533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9AE3D46-1FD0-627F-CA5E-17248A446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0283A47-F01E-A762-B580-2E29BBA63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BD46DBCB-978A-5E8E-2628-AF59CA640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E907-CFD3-4407-84E6-1FE0F27A6E0D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D3F29FBF-93F6-BAD4-33E2-A5F30D22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228E06D1-2102-B904-9595-6618BE41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BDE6-2C1C-48F2-A498-78746695C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7836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8BE14B2-3BF9-96F1-4F23-37B3B5DD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3C6AC9C-9463-67E5-26DF-4381CEA8AA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05E1139-D03B-C239-E4C2-D2F374F06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0EFA1370-C03B-D2D7-BDEB-21B93D76D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E907-CFD3-4407-84E6-1FE0F27A6E0D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99B7906B-F656-488B-FF99-EBB8810D3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F6607E62-96AD-C5CF-5D21-EEF01EDFA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BDE6-2C1C-48F2-A498-78746695C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1287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94473BB-D032-977D-B3AC-032761BEA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7A98EB80-D617-2658-CDEF-8D90C3740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48A92938-9070-3538-09E0-F985209AD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2CDAD22B-C68D-4F50-7BD9-923EA6ADD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0E2219FA-60D1-64BF-AADD-6F3E548A9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AD6FA107-C232-E3FC-8869-75B284508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E907-CFD3-4407-84E6-1FE0F27A6E0D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965506E1-21EC-5957-D29F-B0463C87A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4324B05D-5393-E92F-5247-09B47E315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BDE6-2C1C-48F2-A498-78746695C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99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95D8658-06FE-2BDF-9594-36EDC3FA1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9835AE78-1A13-763B-D63E-9FE86C6C2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E907-CFD3-4407-84E6-1FE0F27A6E0D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44DA0AA-1C96-E676-92C4-5CBAA8348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FEAA7ABB-8E97-E53F-08F4-0D0DD3AD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BDE6-2C1C-48F2-A498-78746695C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109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68C4FCFA-F7CF-F2EE-ED79-E13C9345E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E907-CFD3-4407-84E6-1FE0F27A6E0D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A7EDC3A3-7654-2D5C-799A-4A653FF5D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C4CD83A9-DA41-D0CF-7E6A-247D1F5C4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BDE6-2C1C-48F2-A498-78746695C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9017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EF16BF4-420A-F8FD-0A1F-28DEB026B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672ABBA-B126-AD7D-6DAC-E303ABD88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FC03DAD0-868B-5559-0178-222AEB82A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BC6AFA72-00F0-04EE-1992-B354570BC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E907-CFD3-4407-84E6-1FE0F27A6E0D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38E27C15-14B8-3806-6BD9-F728267E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94F4908F-D5EC-344D-096F-E8416D626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BDE6-2C1C-48F2-A498-78746695C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079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F807055-3C41-0847-9EE3-5623B892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A9468368-B8D8-3BF4-040F-ADF10AB92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1DA9BD58-2E21-B9DD-89E4-662B9AEA2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876E051E-BC74-C151-A48E-EA5FE19B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E907-CFD3-4407-84E6-1FE0F27A6E0D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7EE235C8-D9DD-6457-A1DB-B650EC02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5486AFBF-A238-212A-51D0-BC69051FE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BDE6-2C1C-48F2-A498-78746695C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126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274BA90-B398-7772-A973-D852010C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1EFAB3B3-29A1-13FA-2872-B1466FB03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A0CA4112-B01C-787E-A021-C0495542D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E907-CFD3-4407-84E6-1FE0F27A6E0D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8FB6B7C2-93C1-740A-42A4-7DC085CEF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19F5A67C-CDF1-B7C3-93AB-CC0236C0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BDE6-2C1C-48F2-A498-78746695C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8321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30984B55-BAC9-9FE1-66F3-10B6E3EC69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EE1ECB0C-DCC6-1DF4-2BBD-454E6DCF5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52B142F-A5D5-AE82-1BE5-0A6B6A88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E907-CFD3-4407-84E6-1FE0F27A6E0D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4E850633-A814-D766-8F74-FEEDB1B84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A7FCE3E6-334E-2D01-FB5A-49BD2AF5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BDE6-2C1C-48F2-A498-78746695C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49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CED8BF60-99A8-5237-3B47-3ACDF68B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756A1319-E6B3-7D58-E04B-7EC9F392A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410B3A99-CA64-4BC2-3332-FB8691D8E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5E907-CFD3-4407-84E6-1FE0F27A6E0D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95F5B36-87B9-B4D2-B61D-E43B3A3A6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DF23FB33-E7ED-153D-A708-191DAD578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2BDE6-2C1C-48F2-A498-78746695C7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7780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3ECB1741-D968-A8FE-3D81-9ABC2204316E}"/>
              </a:ext>
            </a:extLst>
          </p:cNvPr>
          <p:cNvSpPr/>
          <p:nvPr/>
        </p:nvSpPr>
        <p:spPr>
          <a:xfrm>
            <a:off x="-2533" y="2442114"/>
            <a:ext cx="12192000" cy="18412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762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Google Shape;56;p13">
            <a:extLst>
              <a:ext uri="{FF2B5EF4-FFF2-40B4-BE49-F238E27FC236}">
                <a16:creationId xmlns:a16="http://schemas.microsoft.com/office/drawing/2014/main" xmlns="" id="{590AD7B2-D1C9-9680-D950-22EFC230DD1E}"/>
              </a:ext>
            </a:extLst>
          </p:cNvPr>
          <p:cNvSpPr txBox="1"/>
          <p:nvPr/>
        </p:nvSpPr>
        <p:spPr>
          <a:xfrm>
            <a:off x="-2533" y="4369026"/>
            <a:ext cx="53196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pt-BR" sz="1200" dirty="0" smtClean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Proposta para os </a:t>
            </a:r>
            <a:r>
              <a:rPr lang="en-GB" sz="1200" b="1" dirty="0" err="1">
                <a:latin typeface="Montserrat" panose="00000500000000000000" pitchFamily="2" charset="0"/>
              </a:rPr>
              <a:t>Hospitais</a:t>
            </a:r>
            <a:r>
              <a:rPr lang="en-GB" sz="1200" b="1" dirty="0">
                <a:latin typeface="Montserrat" panose="00000500000000000000" pitchFamily="2" charset="0"/>
              </a:rPr>
              <a:t> de </a:t>
            </a:r>
            <a:r>
              <a:rPr lang="en-GB" sz="1200" b="1" dirty="0" err="1">
                <a:latin typeface="Montserrat" panose="00000500000000000000" pitchFamily="2" charset="0"/>
              </a:rPr>
              <a:t>Tipologia</a:t>
            </a:r>
            <a:r>
              <a:rPr lang="en-GB" sz="1200" b="1" dirty="0">
                <a:latin typeface="Montserrat" panose="00000500000000000000" pitchFamily="2" charset="0"/>
              </a:rPr>
              <a:t> A -</a:t>
            </a:r>
            <a:r>
              <a:rPr lang="en-GB" sz="1200" b="1" dirty="0" err="1">
                <a:latin typeface="Montserrat" panose="00000500000000000000" pitchFamily="2" charset="0"/>
              </a:rPr>
              <a:t>Cuando</a:t>
            </a:r>
            <a:r>
              <a:rPr lang="en-GB" sz="1200" b="1" dirty="0">
                <a:latin typeface="Montserrat" panose="00000500000000000000" pitchFamily="2" charset="0"/>
              </a:rPr>
              <a:t> e </a:t>
            </a:r>
            <a:r>
              <a:rPr lang="en-GB" sz="1200" b="1" dirty="0" err="1">
                <a:latin typeface="Montserrat" panose="00000500000000000000" pitchFamily="2" charset="0"/>
              </a:rPr>
              <a:t>Cubango</a:t>
            </a:r>
            <a:endParaRPr lang="pt-PT" sz="1200" b="1" dirty="0">
              <a:latin typeface="Montserrat" panose="00000500000000000000" pitchFamily="2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Google Shape;57;p13">
            <a:extLst>
              <a:ext uri="{FF2B5EF4-FFF2-40B4-BE49-F238E27FC236}">
                <a16:creationId xmlns:a16="http://schemas.microsoft.com/office/drawing/2014/main" xmlns="" id="{DE13FE59-F9C0-166C-8209-DD7C3482A69A}"/>
              </a:ext>
            </a:extLst>
          </p:cNvPr>
          <p:cNvSpPr txBox="1"/>
          <p:nvPr/>
        </p:nvSpPr>
        <p:spPr>
          <a:xfrm>
            <a:off x="1224729" y="2871591"/>
            <a:ext cx="1026795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GB" sz="3200" b="1" dirty="0">
                <a:latin typeface="Montserrat" panose="00000500000000000000" pitchFamily="2" charset="0"/>
              </a:rPr>
              <a:t>SISTEMA INTEGRADO DE GESTÃO HOSPITALAR DE ANGOLA</a:t>
            </a:r>
            <a:endParaRPr lang="pt-PT" sz="3200" dirty="0">
              <a:latin typeface="Montserrat" panose="00000500000000000000" pitchFamily="2" charset="0"/>
            </a:endParaRPr>
          </a:p>
        </p:txBody>
      </p:sp>
      <p:sp>
        <p:nvSpPr>
          <p:cNvPr id="9" name="Google Shape;59;p13">
            <a:extLst>
              <a:ext uri="{FF2B5EF4-FFF2-40B4-BE49-F238E27FC236}">
                <a16:creationId xmlns:a16="http://schemas.microsoft.com/office/drawing/2014/main" xmlns="" id="{ED0B1896-5106-3D52-5050-CA035AEE0C28}"/>
              </a:ext>
            </a:extLst>
          </p:cNvPr>
          <p:cNvSpPr txBox="1"/>
          <p:nvPr/>
        </p:nvSpPr>
        <p:spPr>
          <a:xfrm>
            <a:off x="4353887" y="6256938"/>
            <a:ext cx="4009633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CUBANGO, 2026 </a:t>
            </a: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Google Shape;60;p13">
            <a:extLst>
              <a:ext uri="{FF2B5EF4-FFF2-40B4-BE49-F238E27FC236}">
                <a16:creationId xmlns:a16="http://schemas.microsoft.com/office/drawing/2014/main" xmlns="" id="{1D26C810-16D8-C430-D9A5-5EF12D609D0B}"/>
              </a:ext>
            </a:extLst>
          </p:cNvPr>
          <p:cNvSpPr txBox="1"/>
          <p:nvPr/>
        </p:nvSpPr>
        <p:spPr>
          <a:xfrm>
            <a:off x="4562493" y="5518305"/>
            <a:ext cx="359242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200" b="1" i="1" dirty="0">
                <a:latin typeface="Montserrat" panose="00000500000000000000" pitchFamily="2" charset="0"/>
              </a:rPr>
              <a:t>MENTOR E IDEALIZADOR DO </a:t>
            </a:r>
            <a:r>
              <a:rPr lang="en-GB" sz="1200" b="1" i="1" dirty="0" smtClean="0">
                <a:latin typeface="Montserrat" panose="00000500000000000000" pitchFamily="2" charset="0"/>
              </a:rPr>
              <a:t>PROJETO</a:t>
            </a:r>
          </a:p>
          <a:p>
            <a:r>
              <a:rPr lang="en-GB" sz="1200" dirty="0" smtClean="0">
                <a:latin typeface="Montserrat" panose="00000500000000000000" pitchFamily="2" charset="0"/>
              </a:rPr>
              <a:t>Adriano </a:t>
            </a:r>
            <a:r>
              <a:rPr lang="en-GB" sz="1200" dirty="0" err="1">
                <a:latin typeface="Montserrat" panose="00000500000000000000" pitchFamily="2" charset="0"/>
              </a:rPr>
              <a:t>Ngandalo</a:t>
            </a:r>
            <a:r>
              <a:rPr lang="en-GB" sz="1200" dirty="0">
                <a:latin typeface="Montserrat" panose="00000500000000000000" pitchFamily="2" charset="0"/>
              </a:rPr>
              <a:t> Elias Francisco</a:t>
            </a:r>
            <a:endParaRPr lang="pt-PT" sz="1200" dirty="0">
              <a:latin typeface="Montserrat" panose="00000500000000000000" pitchFamily="2" charset="0"/>
            </a:endParaRPr>
          </a:p>
          <a:p>
            <a:endParaRPr lang="pt-PT" sz="1200" dirty="0"/>
          </a:p>
        </p:txBody>
      </p:sp>
      <p:pic>
        <p:nvPicPr>
          <p:cNvPr id="8" name="Imagem 7" descr="C:\Users\HP\AppData\Local\Microsoft\Windows\Temporary Internet Files\Content.Word\logo_sigrh_black.pn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128"/>
          <a:stretch/>
        </p:blipFill>
        <p:spPr bwMode="auto">
          <a:xfrm>
            <a:off x="3972887" y="370945"/>
            <a:ext cx="762000" cy="8286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Caixa de Texto 5"/>
          <p:cNvSpPr txBox="1"/>
          <p:nvPr/>
        </p:nvSpPr>
        <p:spPr>
          <a:xfrm>
            <a:off x="4668384" y="469335"/>
            <a:ext cx="3643946" cy="646331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b="1" dirty="0" smtClean="0">
                <a:latin typeface="Montserrat" panose="00000500000000000000" pitchFamily="2" charset="0"/>
              </a:rPr>
              <a:t>SIGH-ANGOLA</a:t>
            </a:r>
            <a:endParaRPr lang="pt-BR" sz="3600" dirty="0">
              <a:latin typeface="Montserrat" panose="00000500000000000000" pitchFamily="2" charset="0"/>
            </a:endParaRPr>
          </a:p>
        </p:txBody>
      </p:sp>
      <p:sp>
        <p:nvSpPr>
          <p:cNvPr id="13" name="Caixa de Texto 5"/>
          <p:cNvSpPr txBox="1"/>
          <p:nvPr/>
        </p:nvSpPr>
        <p:spPr>
          <a:xfrm>
            <a:off x="3223426" y="1157670"/>
            <a:ext cx="6476453" cy="738664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dirty="0" smtClean="0">
                <a:latin typeface="Montserrat" panose="00000500000000000000" pitchFamily="2" charset="0"/>
              </a:rPr>
              <a:t>SISTEMA </a:t>
            </a:r>
            <a:r>
              <a:rPr lang="en-GB" sz="1400" b="1" dirty="0">
                <a:latin typeface="Montserrat" panose="00000500000000000000" pitchFamily="2" charset="0"/>
              </a:rPr>
              <a:t>INTEGRADO DE GESTÃO HOSPITALAR DE ANGOLA</a:t>
            </a:r>
            <a:endParaRPr lang="pt-BR" sz="1400" dirty="0">
              <a:latin typeface="Montserrat" panose="00000500000000000000" pitchFamily="2" charset="0"/>
            </a:endParaRPr>
          </a:p>
          <a:p>
            <a:r>
              <a:rPr lang="en-GB" sz="1400" b="1" dirty="0">
                <a:latin typeface="Montserrat" panose="00000500000000000000" pitchFamily="2" charset="0"/>
              </a:rPr>
              <a:t>PROJETO DE TRANSFORMAÇÃO DIGITAL DA GESTÃO HOSPITALAR</a:t>
            </a:r>
            <a:endParaRPr lang="pt-BR" sz="1400" dirty="0">
              <a:latin typeface="Montserrat" panose="00000500000000000000" pitchFamily="2" charset="0"/>
            </a:endParaRPr>
          </a:p>
          <a:p>
            <a:r>
              <a:rPr lang="en-GB" sz="1400" dirty="0">
                <a:latin typeface="Montserrat" panose="00000500000000000000" pitchFamily="2" charset="0"/>
              </a:rPr>
              <a:t>“</a:t>
            </a:r>
            <a:r>
              <a:rPr lang="en-GB" sz="1400" dirty="0" err="1">
                <a:latin typeface="Montserrat" panose="00000500000000000000" pitchFamily="2" charset="0"/>
              </a:rPr>
              <a:t>Tecnologia</a:t>
            </a:r>
            <a:r>
              <a:rPr lang="en-GB" sz="1400" dirty="0">
                <a:latin typeface="Montserrat" panose="00000500000000000000" pitchFamily="2" charset="0"/>
              </a:rPr>
              <a:t>, </a:t>
            </a:r>
            <a:r>
              <a:rPr lang="en-GB" sz="1400" dirty="0" err="1">
                <a:latin typeface="Montserrat" panose="00000500000000000000" pitchFamily="2" charset="0"/>
              </a:rPr>
              <a:t>Informação</a:t>
            </a:r>
            <a:r>
              <a:rPr lang="en-GB" sz="1400" dirty="0">
                <a:latin typeface="Montserrat" panose="00000500000000000000" pitchFamily="2" charset="0"/>
              </a:rPr>
              <a:t> e </a:t>
            </a:r>
            <a:r>
              <a:rPr lang="en-GB" sz="1400" dirty="0" err="1">
                <a:latin typeface="Montserrat" panose="00000500000000000000" pitchFamily="2" charset="0"/>
              </a:rPr>
              <a:t>Inovação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ao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Serviço</a:t>
            </a:r>
            <a:r>
              <a:rPr lang="en-GB" sz="1400" dirty="0">
                <a:latin typeface="Montserrat" panose="00000500000000000000" pitchFamily="2" charset="0"/>
              </a:rPr>
              <a:t> da </a:t>
            </a:r>
            <a:r>
              <a:rPr lang="en-GB" sz="1400" dirty="0" err="1">
                <a:latin typeface="Montserrat" panose="00000500000000000000" pitchFamily="2" charset="0"/>
              </a:rPr>
              <a:t>Saúde</a:t>
            </a:r>
            <a:r>
              <a:rPr lang="en-GB" sz="1400" dirty="0">
                <a:latin typeface="Montserrat" panose="00000500000000000000" pitchFamily="2" charset="0"/>
              </a:rPr>
              <a:t>”</a:t>
            </a:r>
            <a:endParaRPr lang="pt-BR" sz="14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72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1639C8D5-35C0-F087-D7D3-F45FACA7F865}"/>
              </a:ext>
            </a:extLst>
          </p:cNvPr>
          <p:cNvSpPr/>
          <p:nvPr/>
        </p:nvSpPr>
        <p:spPr>
          <a:xfrm>
            <a:off x="772731" y="727534"/>
            <a:ext cx="45719" cy="436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xmlns="" id="{4FCAF328-27A0-A8B8-4554-7E5791404023}"/>
              </a:ext>
            </a:extLst>
          </p:cNvPr>
          <p:cNvSpPr/>
          <p:nvPr/>
        </p:nvSpPr>
        <p:spPr>
          <a:xfrm flipH="1">
            <a:off x="0" y="1925829"/>
            <a:ext cx="12192000" cy="41550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xmlns="" id="{8CA3F76B-9603-872F-988F-4A00371F19B7}"/>
              </a:ext>
            </a:extLst>
          </p:cNvPr>
          <p:cNvSpPr txBox="1"/>
          <p:nvPr/>
        </p:nvSpPr>
        <p:spPr>
          <a:xfrm>
            <a:off x="772731" y="641861"/>
            <a:ext cx="41059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Montserrat" panose="00000500000000000000" pitchFamily="2" charset="0"/>
              </a:rPr>
              <a:t>ESPECIFICAÇÃO DE REQUISITOS DE SOFTWARE</a:t>
            </a:r>
            <a:endParaRPr lang="pt-BR" dirty="0">
              <a:latin typeface="Montserrat" panose="00000500000000000000" pitchFamily="2" charset="0"/>
            </a:endParaRPr>
          </a:p>
          <a:p>
            <a:endParaRPr lang="id-ID" b="1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xmlns="" id="{D8D41948-9DC6-D9B1-5D99-765CD4B307DF}"/>
              </a:ext>
            </a:extLst>
          </p:cNvPr>
          <p:cNvGrpSpPr/>
          <p:nvPr/>
        </p:nvGrpSpPr>
        <p:grpSpPr>
          <a:xfrm>
            <a:off x="488138" y="2283098"/>
            <a:ext cx="3301377" cy="4540396"/>
            <a:chOff x="4392166" y="2820785"/>
            <a:chExt cx="3301377" cy="4540396"/>
          </a:xfrm>
        </p:grpSpPr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xmlns="" id="{C5819730-B2DF-9AB1-E6E7-B9301CC8B85C}"/>
                </a:ext>
              </a:extLst>
            </p:cNvPr>
            <p:cNvSpPr/>
            <p:nvPr/>
          </p:nvSpPr>
          <p:spPr>
            <a:xfrm>
              <a:off x="5018547" y="2820785"/>
              <a:ext cx="2096655" cy="55211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8" name="Rectangle 15">
              <a:extLst>
                <a:ext uri="{FF2B5EF4-FFF2-40B4-BE49-F238E27FC236}">
                  <a16:creationId xmlns:a16="http://schemas.microsoft.com/office/drawing/2014/main" xmlns="" id="{AEEED5CE-FA29-1F54-B9A8-FC2A0C2923C6}"/>
                </a:ext>
              </a:extLst>
            </p:cNvPr>
            <p:cNvSpPr/>
            <p:nvPr/>
          </p:nvSpPr>
          <p:spPr>
            <a:xfrm>
              <a:off x="5009539" y="2942954"/>
              <a:ext cx="211468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12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Identificação</a:t>
              </a:r>
              <a:r>
                <a:rPr lang="en-GB" sz="1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do </a:t>
              </a:r>
              <a:r>
                <a:rPr lang="en-GB" sz="12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projeto</a:t>
              </a:r>
              <a:endParaRPr lang="id-ID" sz="12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" name="7 CuadroTexto">
              <a:extLst>
                <a:ext uri="{FF2B5EF4-FFF2-40B4-BE49-F238E27FC236}">
                  <a16:creationId xmlns:a16="http://schemas.microsoft.com/office/drawing/2014/main" xmlns="" id="{20E8A6D7-088F-7C7F-9F51-4A5D85325871}"/>
                </a:ext>
              </a:extLst>
            </p:cNvPr>
            <p:cNvSpPr txBox="1"/>
            <p:nvPr/>
          </p:nvSpPr>
          <p:spPr>
            <a:xfrm>
              <a:off x="4392166" y="3147207"/>
              <a:ext cx="3301377" cy="42139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ts val="1280"/>
                </a:lnSpc>
                <a:defRPr/>
              </a:pPr>
              <a:endParaRPr lang="en-US" sz="1200" dirty="0">
                <a:solidFill>
                  <a:schemeClr val="bg1"/>
                </a:solidFill>
                <a:latin typeface="Montserrat" panose="00000500000000000000" pitchFamily="2" charset="0"/>
                <a:ea typeface="Roboto" panose="02000000000000000000" pitchFamily="2" charset="0"/>
                <a:cs typeface="Lato" charset="0"/>
              </a:endParaRPr>
            </a:p>
            <a:p>
              <a:pPr algn="just">
                <a:lnSpc>
                  <a:spcPts val="1280"/>
                </a:lnSpc>
                <a:defRPr/>
              </a:pPr>
              <a:endParaRPr lang="en-US" sz="1200" dirty="0">
                <a:solidFill>
                  <a:schemeClr val="bg1"/>
                </a:solidFill>
                <a:latin typeface="Montserrat" panose="00000500000000000000" pitchFamily="2" charset="0"/>
                <a:ea typeface="Roboto" panose="02000000000000000000" pitchFamily="2" charset="0"/>
                <a:cs typeface="Lato" charset="0"/>
              </a:endParaRPr>
            </a:p>
            <a:p>
              <a:pPr algn="just"/>
              <a:r>
                <a:rPr lang="en-GB" sz="1200" b="1" dirty="0">
                  <a:latin typeface="Montserrat" panose="00000500000000000000" pitchFamily="2" charset="0"/>
                </a:rPr>
                <a:t>Nome do </a:t>
              </a:r>
              <a:r>
                <a:rPr lang="en-GB" sz="1200" b="1" dirty="0" err="1">
                  <a:latin typeface="Montserrat" panose="00000500000000000000" pitchFamily="2" charset="0"/>
                </a:rPr>
                <a:t>projeto</a:t>
              </a:r>
              <a:r>
                <a:rPr lang="en-GB" sz="1200" b="1" dirty="0">
                  <a:latin typeface="Montserrat" panose="00000500000000000000" pitchFamily="2" charset="0"/>
                </a:rPr>
                <a:t>:</a:t>
              </a:r>
              <a:r>
                <a:rPr lang="en-GB" sz="1200" dirty="0">
                  <a:latin typeface="Montserrat" panose="00000500000000000000" pitchFamily="2" charset="0"/>
                </a:rPr>
                <a:t> SIGH-ANGOLA</a:t>
              </a:r>
              <a:br>
                <a:rPr lang="en-GB" sz="1200" dirty="0">
                  <a:latin typeface="Montserrat" panose="00000500000000000000" pitchFamily="2" charset="0"/>
                </a:rPr>
              </a:br>
              <a:r>
                <a:rPr lang="en-GB" sz="1200" b="1" dirty="0" err="1">
                  <a:latin typeface="Montserrat" panose="00000500000000000000" pitchFamily="2" charset="0"/>
                </a:rPr>
                <a:t>Designação</a:t>
              </a:r>
              <a:r>
                <a:rPr lang="en-GB" sz="1200" b="1" dirty="0">
                  <a:latin typeface="Montserrat" panose="00000500000000000000" pitchFamily="2" charset="0"/>
                </a:rPr>
                <a:t> </a:t>
              </a:r>
              <a:r>
                <a:rPr lang="en-GB" sz="1200" b="1" dirty="0" err="1">
                  <a:latin typeface="Montserrat" panose="00000500000000000000" pitchFamily="2" charset="0"/>
                </a:rPr>
                <a:t>completa</a:t>
              </a:r>
              <a:r>
                <a:rPr lang="en-GB" sz="1200" b="1" dirty="0">
                  <a:latin typeface="Montserrat" panose="00000500000000000000" pitchFamily="2" charset="0"/>
                </a:rPr>
                <a:t>:</a:t>
              </a:r>
              <a:r>
                <a:rPr lang="en-GB" sz="1200" dirty="0">
                  <a:latin typeface="Montserrat" panose="00000500000000000000" pitchFamily="2" charset="0"/>
                </a:rPr>
                <a:t> Sistema Integrado de Gestão Hospitalar de Angola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pPr algn="just"/>
              <a:r>
                <a:rPr lang="en-GB" sz="1200" dirty="0" smtClean="0">
                  <a:latin typeface="Montserrat" panose="00000500000000000000" pitchFamily="2" charset="0"/>
                </a:rPr>
                <a:t>O SIGH-ANGOLA é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uma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plataforma</a:t>
              </a:r>
              <a:r>
                <a:rPr lang="en-GB" sz="1200" dirty="0" smtClean="0">
                  <a:latin typeface="Montserrat" panose="00000500000000000000" pitchFamily="2" charset="0"/>
                </a:rPr>
                <a:t> digital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destinada</a:t>
              </a:r>
              <a:r>
                <a:rPr lang="en-GB" sz="1200" dirty="0" smtClean="0">
                  <a:latin typeface="Montserrat" panose="00000500000000000000" pitchFamily="2" charset="0"/>
                </a:rPr>
                <a:t> à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gestão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integrada</a:t>
              </a:r>
              <a:r>
                <a:rPr lang="en-GB" sz="1200" dirty="0" smtClean="0">
                  <a:latin typeface="Montserrat" panose="00000500000000000000" pitchFamily="2" charset="0"/>
                </a:rPr>
                <a:t> dos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processos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clínicos</a:t>
              </a:r>
              <a:r>
                <a:rPr lang="en-GB" sz="1200" dirty="0" smtClean="0">
                  <a:latin typeface="Montserrat" panose="00000500000000000000" pitchFamily="2" charset="0"/>
                </a:rPr>
                <a:t>, administrativos,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logísticos</a:t>
              </a:r>
              <a:r>
                <a:rPr lang="en-GB" sz="1200" dirty="0" smtClean="0">
                  <a:latin typeface="Montserrat" panose="00000500000000000000" pitchFamily="2" charset="0"/>
                </a:rPr>
                <a:t>,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financeiros</a:t>
              </a:r>
              <a:r>
                <a:rPr lang="en-GB" sz="1200" dirty="0" smtClean="0">
                  <a:latin typeface="Montserrat" panose="00000500000000000000" pitchFamily="2" charset="0"/>
                </a:rPr>
                <a:t> 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estatísticos</a:t>
              </a:r>
              <a:r>
                <a:rPr lang="en-GB" sz="1200" dirty="0" smtClean="0">
                  <a:latin typeface="Montserrat" panose="00000500000000000000" pitchFamily="2" charset="0"/>
                </a:rPr>
                <a:t> das unidades hospitalares.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algn="just"/>
              <a:r>
                <a:rPr lang="en-GB" sz="1200" dirty="0" smtClean="0">
                  <a:latin typeface="Montserrat" panose="00000500000000000000" pitchFamily="2" charset="0"/>
                </a:rPr>
                <a:t>O </a:t>
              </a:r>
              <a:r>
                <a:rPr lang="en-GB" sz="1200" dirty="0">
                  <a:latin typeface="Montserrat" panose="00000500000000000000" pitchFamily="2" charset="0"/>
                </a:rPr>
                <a:t>sistema </a:t>
              </a:r>
              <a:r>
                <a:rPr lang="en-GB" sz="1200" dirty="0" err="1">
                  <a:latin typeface="Montserrat" panose="00000500000000000000" pitchFamily="2" charset="0"/>
                </a:rPr>
                <a:t>será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concebido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prioritariamente</a:t>
              </a:r>
              <a:r>
                <a:rPr lang="en-GB" sz="1200" dirty="0">
                  <a:latin typeface="Montserrat" panose="00000500000000000000" pitchFamily="2" charset="0"/>
                </a:rPr>
                <a:t> para </a:t>
              </a:r>
              <a:r>
                <a:rPr lang="en-GB" sz="1200" dirty="0" err="1">
                  <a:latin typeface="Montserrat" panose="00000500000000000000" pitchFamily="2" charset="0"/>
                </a:rPr>
                <a:t>funcionar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em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b="1" dirty="0" err="1">
                  <a:latin typeface="Montserrat" panose="00000500000000000000" pitchFamily="2" charset="0"/>
                </a:rPr>
                <a:t>ambientes</a:t>
              </a:r>
              <a:r>
                <a:rPr lang="en-GB" sz="1200" b="1" dirty="0">
                  <a:latin typeface="Montserrat" panose="00000500000000000000" pitchFamily="2" charset="0"/>
                </a:rPr>
                <a:t> com </a:t>
              </a:r>
              <a:r>
                <a:rPr lang="en-GB" sz="1200" b="1" dirty="0" err="1" smtClean="0">
                  <a:latin typeface="Montserrat" panose="00000500000000000000" pitchFamily="2" charset="0"/>
                </a:rPr>
                <a:t>conectividade</a:t>
              </a:r>
              <a:r>
                <a:rPr lang="en-GB" sz="1200" b="1" dirty="0" smtClean="0">
                  <a:latin typeface="Montserrat" panose="00000500000000000000" pitchFamily="2" charset="0"/>
                </a:rPr>
                <a:t> </a:t>
              </a:r>
              <a:r>
                <a:rPr lang="en-GB" sz="1200" b="1" dirty="0" err="1" smtClean="0">
                  <a:latin typeface="Montserrat" panose="00000500000000000000" pitchFamily="2" charset="0"/>
                </a:rPr>
                <a:t>limitada</a:t>
              </a:r>
              <a:r>
                <a:rPr lang="en-GB" sz="1200" dirty="0" smtClean="0">
                  <a:latin typeface="Montserrat" panose="00000500000000000000" pitchFamily="2" charset="0"/>
                </a:rPr>
                <a:t>,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permitindo</a:t>
              </a:r>
              <a:r>
                <a:rPr lang="en-GB" sz="1200" dirty="0" smtClean="0">
                  <a:latin typeface="Montserrat" panose="00000500000000000000" pitchFamily="2" charset="0"/>
                </a:rPr>
                <a:t> a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operação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em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modo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b="1" dirty="0" smtClean="0">
                  <a:latin typeface="Montserrat" panose="00000500000000000000" pitchFamily="2" charset="0"/>
                </a:rPr>
                <a:t>offline</a:t>
              </a:r>
              <a:r>
                <a:rPr lang="en-GB" sz="1200" dirty="0" smtClean="0">
                  <a:latin typeface="Montserrat" panose="00000500000000000000" pitchFamily="2" charset="0"/>
                </a:rPr>
                <a:t> e a posterior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sincronização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segura</a:t>
              </a:r>
              <a:r>
                <a:rPr lang="en-GB" sz="1200" dirty="0" smtClean="0">
                  <a:latin typeface="Montserrat" panose="00000500000000000000" pitchFamily="2" charset="0"/>
                </a:rPr>
                <a:t> dos dados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quando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existir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ligação</a:t>
              </a:r>
              <a:r>
                <a:rPr lang="en-GB" sz="1200" dirty="0" smtClean="0">
                  <a:latin typeface="Montserrat" panose="00000500000000000000" pitchFamily="2" charset="0"/>
                </a:rPr>
                <a:t> à Internet.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algn="just">
                <a:lnSpc>
                  <a:spcPts val="1280"/>
                </a:lnSpc>
                <a:defRPr/>
              </a:pPr>
              <a:endPara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algn="just">
                <a:lnSpc>
                  <a:spcPts val="1280"/>
                </a:lnSpc>
                <a:defRPr/>
              </a:pP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algn="just">
                <a:lnSpc>
                  <a:spcPts val="1280"/>
                </a:lnSpc>
                <a:defRPr/>
              </a:pP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algn="just">
                <a:lnSpc>
                  <a:spcPts val="1280"/>
                </a:lnSpc>
                <a:defRPr/>
              </a:pPr>
              <a:endParaRPr lang="en-US" sz="1200" dirty="0">
                <a:solidFill>
                  <a:schemeClr val="bg1"/>
                </a:solidFill>
                <a:latin typeface="Montserrat" panose="00000500000000000000" pitchFamily="2" charset="0"/>
                <a:ea typeface="Roboto" panose="02000000000000000000" pitchFamily="2" charset="0"/>
                <a:cs typeface="Lato" charset="0"/>
              </a:endParaRPr>
            </a:p>
            <a:p>
              <a:pPr algn="just">
                <a:lnSpc>
                  <a:spcPts val="1280"/>
                </a:lnSpc>
                <a:defRPr/>
              </a:pPr>
              <a:endParaRPr lang="en-US" sz="1200" dirty="0">
                <a:solidFill>
                  <a:schemeClr val="bg1"/>
                </a:solidFill>
                <a:latin typeface="Montserrat" panose="00000500000000000000" pitchFamily="2" charset="0"/>
                <a:ea typeface="Roboto" panose="02000000000000000000" pitchFamily="2" charset="0"/>
                <a:cs typeface="Lato" charset="0"/>
              </a:endParaRP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xmlns="" id="{3E3361D1-BEB0-B5CF-7D90-4C507D439C78}"/>
              </a:ext>
            </a:extLst>
          </p:cNvPr>
          <p:cNvGrpSpPr/>
          <p:nvPr/>
        </p:nvGrpSpPr>
        <p:grpSpPr>
          <a:xfrm>
            <a:off x="8451639" y="2308199"/>
            <a:ext cx="3187928" cy="2860986"/>
            <a:chOff x="8451639" y="2666896"/>
            <a:chExt cx="3187928" cy="2860986"/>
          </a:xfrm>
        </p:grpSpPr>
        <p:sp>
          <p:nvSpPr>
            <p:cNvPr id="9" name="Rectangle 16">
              <a:extLst>
                <a:ext uri="{FF2B5EF4-FFF2-40B4-BE49-F238E27FC236}">
                  <a16:creationId xmlns:a16="http://schemas.microsoft.com/office/drawing/2014/main" xmlns="" id="{2B559734-9ECD-1A9A-0D5D-A2D05F927896}"/>
                </a:ext>
              </a:extLst>
            </p:cNvPr>
            <p:cNvSpPr/>
            <p:nvPr/>
          </p:nvSpPr>
          <p:spPr>
            <a:xfrm>
              <a:off x="8968150" y="2666896"/>
              <a:ext cx="2096655" cy="55211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0" name="Rectangle 17">
              <a:extLst>
                <a:ext uri="{FF2B5EF4-FFF2-40B4-BE49-F238E27FC236}">
                  <a16:creationId xmlns:a16="http://schemas.microsoft.com/office/drawing/2014/main" xmlns="" id="{48CCB9A6-7107-78C4-D959-47ABB13E781C}"/>
                </a:ext>
              </a:extLst>
            </p:cNvPr>
            <p:cNvSpPr/>
            <p:nvPr/>
          </p:nvSpPr>
          <p:spPr>
            <a:xfrm>
              <a:off x="9354276" y="2789065"/>
              <a:ext cx="13244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bg1"/>
                  </a:solidFill>
                  <a:latin typeface="Montserrat" panose="02000505000000020004" pitchFamily="2" charset="0"/>
                </a:rPr>
                <a:t>Justificativa</a:t>
              </a:r>
              <a:endParaRPr lang="id-ID" sz="1400" b="1" dirty="0">
                <a:solidFill>
                  <a:schemeClr val="bg1"/>
                </a:solidFill>
                <a:latin typeface="Montserrat" panose="02000505000000020004" pitchFamily="2" charset="0"/>
              </a:endParaRPr>
            </a:p>
          </p:txBody>
        </p:sp>
        <p:sp>
          <p:nvSpPr>
            <p:cNvPr id="13" name="7 CuadroTexto">
              <a:extLst>
                <a:ext uri="{FF2B5EF4-FFF2-40B4-BE49-F238E27FC236}">
                  <a16:creationId xmlns:a16="http://schemas.microsoft.com/office/drawing/2014/main" xmlns="" id="{02713074-CBA0-B19F-8249-D4703E541DEA}"/>
                </a:ext>
              </a:extLst>
            </p:cNvPr>
            <p:cNvSpPr txBox="1"/>
            <p:nvPr/>
          </p:nvSpPr>
          <p:spPr>
            <a:xfrm>
              <a:off x="8451639" y="3193910"/>
              <a:ext cx="3187928" cy="23339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280"/>
                </a:lnSpc>
                <a:defRPr/>
              </a:pPr>
              <a:endParaRPr lang="en-US" sz="9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Lato" charset="0"/>
              </a:endParaRPr>
            </a:p>
            <a:p>
              <a:pPr algn="just">
                <a:lnSpc>
                  <a:spcPts val="1280"/>
                </a:lnSpc>
                <a:defRPr/>
              </a:pP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Descreva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aqui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neste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espaço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qual a justificative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deste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trabalho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/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pesquisa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.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Lembre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-se que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você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deve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preencher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exatamente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a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mesma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informação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que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está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na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sua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monografia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.</a:t>
              </a:r>
            </a:p>
            <a:p>
              <a:pPr marL="50800" lvl="0">
                <a:lnSpc>
                  <a:spcPct val="150000"/>
                </a:lnSpc>
                <a:spcBef>
                  <a:spcPts val="700"/>
                </a:spcBef>
                <a:buSzPts val="2800"/>
              </a:pPr>
              <a:r>
                <a:rPr lang="pt-B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Qual a motivação?</a:t>
              </a:r>
            </a:p>
            <a:p>
              <a:pPr marL="50800" lvl="0">
                <a:lnSpc>
                  <a:spcPct val="150000"/>
                </a:lnSpc>
                <a:buSzPts val="2800"/>
              </a:pPr>
              <a:r>
                <a:rPr lang="pt-B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O que esse trabalho faz?</a:t>
              </a:r>
            </a:p>
            <a:p>
              <a:pPr marL="50800" lvl="0">
                <a:lnSpc>
                  <a:spcPct val="150000"/>
                </a:lnSpc>
                <a:buSzPts val="2800"/>
              </a:pPr>
              <a:r>
                <a:rPr lang="pt-B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Qual a sua relevância?</a:t>
              </a:r>
            </a:p>
            <a:p>
              <a:pPr algn="just">
                <a:lnSpc>
                  <a:spcPts val="1280"/>
                </a:lnSpc>
                <a:defRPr/>
              </a:pP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algn="ctr">
                <a:lnSpc>
                  <a:spcPts val="1280"/>
                </a:lnSpc>
                <a:defRPr/>
              </a:pPr>
              <a:endParaRPr lang="en-US" sz="9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Lato" charset="0"/>
              </a:endParaRPr>
            </a:p>
          </p:txBody>
        </p:sp>
      </p:grp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xmlns="" id="{C29D62AD-4427-15E3-F7BC-368C6DC742CF}"/>
              </a:ext>
            </a:extLst>
          </p:cNvPr>
          <p:cNvSpPr/>
          <p:nvPr/>
        </p:nvSpPr>
        <p:spPr>
          <a:xfrm>
            <a:off x="4195087" y="1559356"/>
            <a:ext cx="3779883" cy="4771696"/>
          </a:xfrm>
          <a:prstGeom prst="roundRect">
            <a:avLst>
              <a:gd name="adj" fmla="val 676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114300">
              <a:prstClr val="black">
                <a:alpha val="4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xmlns="" id="{7FADF828-C7D3-F747-3664-C132597494B8}"/>
              </a:ext>
            </a:extLst>
          </p:cNvPr>
          <p:cNvGrpSpPr/>
          <p:nvPr/>
        </p:nvGrpSpPr>
        <p:grpSpPr>
          <a:xfrm>
            <a:off x="4419421" y="2283098"/>
            <a:ext cx="3328155" cy="588651"/>
            <a:chOff x="606801" y="2820785"/>
            <a:chExt cx="3328155" cy="588651"/>
          </a:xfrm>
        </p:grpSpPr>
        <p:sp>
          <p:nvSpPr>
            <p:cNvPr id="5" name="Rectangle 12">
              <a:extLst>
                <a:ext uri="{FF2B5EF4-FFF2-40B4-BE49-F238E27FC236}">
                  <a16:creationId xmlns:a16="http://schemas.microsoft.com/office/drawing/2014/main" xmlns="" id="{393636C3-C0EA-45F7-D218-4DC287A9E45B}"/>
                </a:ext>
              </a:extLst>
            </p:cNvPr>
            <p:cNvSpPr/>
            <p:nvPr/>
          </p:nvSpPr>
          <p:spPr>
            <a:xfrm>
              <a:off x="660289" y="2820785"/>
              <a:ext cx="3187929" cy="5521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" name="Rectangle 13">
              <a:extLst>
                <a:ext uri="{FF2B5EF4-FFF2-40B4-BE49-F238E27FC236}">
                  <a16:creationId xmlns:a16="http://schemas.microsoft.com/office/drawing/2014/main" xmlns="" id="{A1289ACD-2728-A17D-79B7-80D74619F49B}"/>
                </a:ext>
              </a:extLst>
            </p:cNvPr>
            <p:cNvSpPr/>
            <p:nvPr/>
          </p:nvSpPr>
          <p:spPr>
            <a:xfrm>
              <a:off x="606801" y="2947771"/>
              <a:ext cx="332815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1200" b="1" dirty="0">
                  <a:latin typeface="Montserrat" panose="00000500000000000000" pitchFamily="2" charset="0"/>
                </a:rPr>
                <a:t>EQUIPA E TITULARIDADE DO PROJETO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pPr algn="ctr"/>
              <a:endPara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317157"/>
              </p:ext>
            </p:extLst>
          </p:nvPr>
        </p:nvGraphicFramePr>
        <p:xfrm>
          <a:off x="4326980" y="3109284"/>
          <a:ext cx="3479786" cy="2669226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510445"/>
                <a:gridCol w="1969341"/>
              </a:tblGrid>
              <a:tr h="144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50" kern="0" dirty="0" smtClean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NOME</a:t>
                      </a:r>
                      <a:endParaRPr lang="pt-BR" sz="105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50" kern="0" dirty="0" smtClean="0">
                          <a:effectLst/>
                          <a:latin typeface="Montserrat" panose="00000500000000000000" pitchFamily="2" charset="0"/>
                        </a:rPr>
                        <a:t>FUNÇÃO</a:t>
                      </a:r>
                      <a:endParaRPr lang="pt-BR" sz="1050" kern="100" dirty="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44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50" kern="0">
                          <a:effectLst/>
                          <a:latin typeface="Montserrat" panose="00000500000000000000" pitchFamily="2" charset="0"/>
                        </a:rPr>
                        <a:t>Dr. Adriano Ngandalo Elias Francisco</a:t>
                      </a:r>
                      <a:endParaRPr lang="pt-BR" sz="1050" kern="10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50" kern="0" dirty="0">
                          <a:effectLst/>
                          <a:latin typeface="Montserrat" panose="00000500000000000000" pitchFamily="2" charset="0"/>
                        </a:rPr>
                        <a:t>Mentor e </a:t>
                      </a:r>
                      <a:r>
                        <a:rPr lang="en-GB" sz="1050" kern="0" dirty="0" err="1">
                          <a:effectLst/>
                          <a:latin typeface="Montserrat" panose="00000500000000000000" pitchFamily="2" charset="0"/>
                        </a:rPr>
                        <a:t>idealizador</a:t>
                      </a:r>
                      <a:r>
                        <a:rPr lang="en-GB" sz="1050" kern="0" dirty="0">
                          <a:effectLst/>
                          <a:latin typeface="Montserrat" panose="00000500000000000000" pitchFamily="2" charset="0"/>
                        </a:rPr>
                        <a:t> do </a:t>
                      </a:r>
                      <a:r>
                        <a:rPr lang="en-GB" sz="1050" kern="0" dirty="0" err="1">
                          <a:effectLst/>
                          <a:latin typeface="Montserrat" panose="00000500000000000000" pitchFamily="2" charset="0"/>
                        </a:rPr>
                        <a:t>projeto</a:t>
                      </a:r>
                      <a:endParaRPr lang="pt-BR" sz="1050" kern="100" dirty="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44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50" kern="0">
                          <a:effectLst/>
                          <a:latin typeface="Montserrat" panose="00000500000000000000" pitchFamily="2" charset="0"/>
                        </a:rPr>
                        <a:t>Gilmar Cílio Pascoal</a:t>
                      </a:r>
                      <a:endParaRPr lang="pt-BR" sz="1050" kern="10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50" kern="0">
                          <a:effectLst/>
                          <a:latin typeface="Montserrat" panose="00000500000000000000" pitchFamily="2" charset="0"/>
                        </a:rPr>
                        <a:t>Mentor do projeto</a:t>
                      </a:r>
                      <a:endParaRPr lang="pt-BR" sz="1050" kern="10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44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50" kern="0">
                          <a:effectLst/>
                          <a:latin typeface="Montserrat" panose="00000500000000000000" pitchFamily="2" charset="0"/>
                        </a:rPr>
                        <a:t>Pedro Jambalichinde Ngandalo</a:t>
                      </a:r>
                      <a:endParaRPr lang="pt-BR" sz="1050" kern="10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50" kern="0">
                          <a:effectLst/>
                          <a:latin typeface="Montserrat" panose="00000500000000000000" pitchFamily="2" charset="0"/>
                        </a:rPr>
                        <a:t>Mentor do projeto</a:t>
                      </a:r>
                      <a:endParaRPr lang="pt-BR" sz="1050" kern="10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44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50" kern="0">
                          <a:effectLst/>
                          <a:latin typeface="Montserrat" panose="00000500000000000000" pitchFamily="2" charset="0"/>
                        </a:rPr>
                        <a:t>Arnaldo Samba</a:t>
                      </a:r>
                      <a:endParaRPr lang="pt-BR" sz="1050" kern="10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50" kern="0">
                          <a:effectLst/>
                          <a:latin typeface="Montserrat" panose="00000500000000000000" pitchFamily="2" charset="0"/>
                        </a:rPr>
                        <a:t>Membro da equipa do projeto</a:t>
                      </a:r>
                      <a:endParaRPr lang="pt-BR" sz="1050" kern="10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44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50" kern="0">
                          <a:effectLst/>
                          <a:latin typeface="Montserrat" panose="00000500000000000000" pitchFamily="2" charset="0"/>
                        </a:rPr>
                        <a:t>Jason de Sá Manezes</a:t>
                      </a:r>
                      <a:endParaRPr lang="pt-BR" sz="1050" kern="10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50" kern="0">
                          <a:effectLst/>
                          <a:latin typeface="Montserrat" panose="00000500000000000000" pitchFamily="2" charset="0"/>
                        </a:rPr>
                        <a:t>Engenheiro de Arquitetura e Design do Projeto</a:t>
                      </a:r>
                      <a:endParaRPr lang="pt-BR" sz="1050" kern="10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44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50" kern="0">
                          <a:effectLst/>
                          <a:latin typeface="Montserrat" panose="00000500000000000000" pitchFamily="2" charset="0"/>
                        </a:rPr>
                        <a:t>Dr. Eliúde do Santos</a:t>
                      </a:r>
                      <a:endParaRPr lang="pt-BR" sz="1050" kern="10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50" kern="0" dirty="0">
                          <a:effectLst/>
                          <a:latin typeface="Montserrat" panose="00000500000000000000" pitchFamily="2" charset="0"/>
                        </a:rPr>
                        <a:t>Consultor de Bases de Dados e </a:t>
                      </a:r>
                      <a:r>
                        <a:rPr lang="en-GB" sz="1050" kern="0" dirty="0" err="1">
                          <a:effectLst/>
                          <a:latin typeface="Montserrat" panose="00000500000000000000" pitchFamily="2" charset="0"/>
                        </a:rPr>
                        <a:t>Estatística</a:t>
                      </a:r>
                      <a:endParaRPr lang="pt-BR" sz="1050" kern="100" dirty="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37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vre: Forma 18">
            <a:extLst>
              <a:ext uri="{FF2B5EF4-FFF2-40B4-BE49-F238E27FC236}">
                <a16:creationId xmlns:a16="http://schemas.microsoft.com/office/drawing/2014/main" xmlns="" id="{E81C48A9-EBD4-8671-4CE9-F36ED3ECE63F}"/>
              </a:ext>
            </a:extLst>
          </p:cNvPr>
          <p:cNvSpPr/>
          <p:nvPr/>
        </p:nvSpPr>
        <p:spPr>
          <a:xfrm>
            <a:off x="-1" y="707006"/>
            <a:ext cx="7762875" cy="1420431"/>
          </a:xfrm>
          <a:custGeom>
            <a:avLst/>
            <a:gdLst>
              <a:gd name="connsiteX0" fmla="*/ 0 w 6096000"/>
              <a:gd name="connsiteY0" fmla="*/ 0 h 1420431"/>
              <a:gd name="connsiteX1" fmla="*/ 5775181 w 6096000"/>
              <a:gd name="connsiteY1" fmla="*/ 0 h 1420431"/>
              <a:gd name="connsiteX2" fmla="*/ 6096000 w 6096000"/>
              <a:gd name="connsiteY2" fmla="*/ 320819 h 1420431"/>
              <a:gd name="connsiteX3" fmla="*/ 6096000 w 6096000"/>
              <a:gd name="connsiteY3" fmla="*/ 1099612 h 1420431"/>
              <a:gd name="connsiteX4" fmla="*/ 5775181 w 6096000"/>
              <a:gd name="connsiteY4" fmla="*/ 1420431 h 1420431"/>
              <a:gd name="connsiteX5" fmla="*/ 0 w 6096000"/>
              <a:gd name="connsiteY5" fmla="*/ 1420431 h 1420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1420431">
                <a:moveTo>
                  <a:pt x="0" y="0"/>
                </a:moveTo>
                <a:lnTo>
                  <a:pt x="5775181" y="0"/>
                </a:lnTo>
                <a:cubicBezTo>
                  <a:pt x="5952364" y="0"/>
                  <a:pt x="6096000" y="143636"/>
                  <a:pt x="6096000" y="320819"/>
                </a:cubicBezTo>
                <a:lnTo>
                  <a:pt x="6096000" y="1099612"/>
                </a:lnTo>
                <a:cubicBezTo>
                  <a:pt x="6096000" y="1276795"/>
                  <a:pt x="5952364" y="1420431"/>
                  <a:pt x="5775181" y="1420431"/>
                </a:cubicBezTo>
                <a:lnTo>
                  <a:pt x="0" y="142043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xmlns="" id="{3F946E38-97C3-DA97-1E85-5920EA3DB927}"/>
              </a:ext>
            </a:extLst>
          </p:cNvPr>
          <p:cNvSpPr/>
          <p:nvPr/>
        </p:nvSpPr>
        <p:spPr>
          <a:xfrm flipH="1">
            <a:off x="8908326" y="0"/>
            <a:ext cx="328367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xmlns="" id="{E6FBCBE5-7A35-C58D-1471-48B39F82C1ED}"/>
              </a:ext>
            </a:extLst>
          </p:cNvPr>
          <p:cNvSpPr txBox="1"/>
          <p:nvPr/>
        </p:nvSpPr>
        <p:spPr>
          <a:xfrm>
            <a:off x="254464" y="1201777"/>
            <a:ext cx="73003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b="1" dirty="0">
                <a:solidFill>
                  <a:schemeClr val="bg1"/>
                </a:solidFill>
                <a:latin typeface="Montserrat" panose="00000500000000000000" pitchFamily="2" charset="0"/>
              </a:rPr>
              <a:t>ESPECIFICAÇÃO DE REQUISITOS DE SOFTWARE</a:t>
            </a:r>
            <a:endParaRPr lang="pt-PT" sz="2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xmlns="" id="{B7313C36-CF70-846D-180C-F7175351154E}"/>
              </a:ext>
            </a:extLst>
          </p:cNvPr>
          <p:cNvSpPr/>
          <p:nvPr/>
        </p:nvSpPr>
        <p:spPr>
          <a:xfrm>
            <a:off x="254462" y="2468319"/>
            <a:ext cx="31614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1. </a:t>
            </a:r>
            <a:r>
              <a:rPr lang="en-GB" sz="1400" b="1" dirty="0" smtClean="0">
                <a:latin typeface="Montserrat" panose="00000500000000000000" pitchFamily="2" charset="0"/>
              </a:rPr>
              <a:t>IDENTIFICAÇÃO DO PROJETO</a:t>
            </a:r>
            <a:endParaRPr lang="pt-PT" sz="1400" dirty="0">
              <a:latin typeface="Montserrat" panose="00000500000000000000" pitchFamily="2" charset="0"/>
            </a:endParaRPr>
          </a:p>
        </p:txBody>
      </p:sp>
      <p:sp>
        <p:nvSpPr>
          <p:cNvPr id="11" name="7 CuadroTexto">
            <a:extLst>
              <a:ext uri="{FF2B5EF4-FFF2-40B4-BE49-F238E27FC236}">
                <a16:creationId xmlns:a16="http://schemas.microsoft.com/office/drawing/2014/main" xmlns="" id="{4F88BF9A-53B2-9818-2AC0-515DC8CCCEA5}"/>
              </a:ext>
            </a:extLst>
          </p:cNvPr>
          <p:cNvSpPr txBox="1"/>
          <p:nvPr/>
        </p:nvSpPr>
        <p:spPr>
          <a:xfrm>
            <a:off x="254463" y="2653145"/>
            <a:ext cx="7795016" cy="3706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280"/>
              </a:lnSpc>
              <a:defRPr/>
            </a:pPr>
            <a:endParaRPr lang="en-US" sz="1400" dirty="0">
              <a:solidFill>
                <a:schemeClr val="bg1">
                  <a:lumMod val="50000"/>
                </a:schemeClr>
              </a:solidFill>
              <a:latin typeface="Montserrat" panose="00000500000000000000" pitchFamily="2" charset="0"/>
              <a:ea typeface="Roboto" panose="02000000000000000000" pitchFamily="2" charset="0"/>
              <a:cs typeface="Lato" charset="0"/>
            </a:endParaRPr>
          </a:p>
          <a:p>
            <a:pPr algn="just"/>
            <a:r>
              <a:rPr lang="en-GB" sz="1400" b="1" dirty="0">
                <a:latin typeface="Montserrat" panose="00000500000000000000" pitchFamily="2" charset="0"/>
              </a:rPr>
              <a:t>Nome do </a:t>
            </a:r>
            <a:r>
              <a:rPr lang="en-GB" sz="1400" b="1" dirty="0" err="1">
                <a:latin typeface="Montserrat" panose="00000500000000000000" pitchFamily="2" charset="0"/>
              </a:rPr>
              <a:t>projeto</a:t>
            </a:r>
            <a:r>
              <a:rPr lang="en-GB" sz="1400" b="1" dirty="0">
                <a:latin typeface="Montserrat" panose="00000500000000000000" pitchFamily="2" charset="0"/>
              </a:rPr>
              <a:t>: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smtClean="0">
                <a:latin typeface="Montserrat" panose="00000500000000000000" pitchFamily="2" charset="0"/>
              </a:rPr>
              <a:t>SIGH-ANGOLA</a:t>
            </a:r>
          </a:p>
          <a:p>
            <a:pPr algn="just"/>
            <a:r>
              <a:rPr lang="en-GB" sz="1400" dirty="0">
                <a:latin typeface="Montserrat" panose="00000500000000000000" pitchFamily="2" charset="0"/>
              </a:rPr>
              <a:t/>
            </a:r>
            <a:br>
              <a:rPr lang="en-GB" sz="1400" dirty="0">
                <a:latin typeface="Montserrat" panose="00000500000000000000" pitchFamily="2" charset="0"/>
              </a:rPr>
            </a:br>
            <a:r>
              <a:rPr lang="en-GB" sz="1400" b="1" dirty="0" err="1">
                <a:latin typeface="Montserrat" panose="00000500000000000000" pitchFamily="2" charset="0"/>
              </a:rPr>
              <a:t>Designação</a:t>
            </a:r>
            <a:r>
              <a:rPr lang="en-GB" sz="1400" b="1" dirty="0">
                <a:latin typeface="Montserrat" panose="00000500000000000000" pitchFamily="2" charset="0"/>
              </a:rPr>
              <a:t> </a:t>
            </a:r>
            <a:r>
              <a:rPr lang="en-GB" sz="1400" b="1" dirty="0" err="1">
                <a:latin typeface="Montserrat" panose="00000500000000000000" pitchFamily="2" charset="0"/>
              </a:rPr>
              <a:t>completa</a:t>
            </a:r>
            <a:r>
              <a:rPr lang="en-GB" sz="1400" b="1" dirty="0">
                <a:latin typeface="Montserrat" panose="00000500000000000000" pitchFamily="2" charset="0"/>
              </a:rPr>
              <a:t>:</a:t>
            </a:r>
            <a:r>
              <a:rPr lang="en-GB" sz="1400" dirty="0">
                <a:latin typeface="Montserrat" panose="00000500000000000000" pitchFamily="2" charset="0"/>
              </a:rPr>
              <a:t> Sistema Integrado de Gestão Hospitalar de </a:t>
            </a:r>
            <a:r>
              <a:rPr lang="en-GB" sz="1400" dirty="0" smtClean="0">
                <a:latin typeface="Montserrat" panose="00000500000000000000" pitchFamily="2" charset="0"/>
              </a:rPr>
              <a:t>Angola</a:t>
            </a:r>
          </a:p>
          <a:p>
            <a:pPr algn="just"/>
            <a:endParaRPr lang="pt-PT" sz="1400" dirty="0">
              <a:latin typeface="Montserrat" panose="00000500000000000000" pitchFamily="2" charset="0"/>
            </a:endParaRPr>
          </a:p>
          <a:p>
            <a:pPr algn="just"/>
            <a:r>
              <a:rPr lang="en-GB" sz="1400" dirty="0">
                <a:latin typeface="Montserrat" panose="00000500000000000000" pitchFamily="2" charset="0"/>
              </a:rPr>
              <a:t>O SIGH-ANGOLA é </a:t>
            </a:r>
            <a:r>
              <a:rPr lang="en-GB" sz="1400" dirty="0" err="1">
                <a:latin typeface="Montserrat" panose="00000500000000000000" pitchFamily="2" charset="0"/>
              </a:rPr>
              <a:t>uma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plataforma</a:t>
            </a:r>
            <a:r>
              <a:rPr lang="en-GB" sz="1400" dirty="0">
                <a:latin typeface="Montserrat" panose="00000500000000000000" pitchFamily="2" charset="0"/>
              </a:rPr>
              <a:t> digital </a:t>
            </a:r>
            <a:r>
              <a:rPr lang="en-GB" sz="1400" dirty="0" err="1">
                <a:latin typeface="Montserrat" panose="00000500000000000000" pitchFamily="2" charset="0"/>
              </a:rPr>
              <a:t>destinada</a:t>
            </a:r>
            <a:r>
              <a:rPr lang="en-GB" sz="1400" dirty="0">
                <a:latin typeface="Montserrat" panose="00000500000000000000" pitchFamily="2" charset="0"/>
              </a:rPr>
              <a:t> à </a:t>
            </a:r>
            <a:r>
              <a:rPr lang="en-GB" sz="1400" dirty="0" err="1">
                <a:latin typeface="Montserrat" panose="00000500000000000000" pitchFamily="2" charset="0"/>
              </a:rPr>
              <a:t>gestão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integrada</a:t>
            </a:r>
            <a:r>
              <a:rPr lang="en-GB" sz="1400" dirty="0">
                <a:latin typeface="Montserrat" panose="00000500000000000000" pitchFamily="2" charset="0"/>
              </a:rPr>
              <a:t> dos </a:t>
            </a:r>
            <a:r>
              <a:rPr lang="en-GB" sz="1400" dirty="0" err="1">
                <a:latin typeface="Montserrat" panose="00000500000000000000" pitchFamily="2" charset="0"/>
              </a:rPr>
              <a:t>processos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clínicos</a:t>
            </a:r>
            <a:r>
              <a:rPr lang="en-GB" sz="1400" dirty="0">
                <a:latin typeface="Montserrat" panose="00000500000000000000" pitchFamily="2" charset="0"/>
              </a:rPr>
              <a:t>, administrativos, </a:t>
            </a:r>
            <a:r>
              <a:rPr lang="en-GB" sz="1400" dirty="0" err="1">
                <a:latin typeface="Montserrat" panose="00000500000000000000" pitchFamily="2" charset="0"/>
              </a:rPr>
              <a:t>logísticos</a:t>
            </a:r>
            <a:r>
              <a:rPr lang="en-GB" sz="1400" dirty="0">
                <a:latin typeface="Montserrat" panose="00000500000000000000" pitchFamily="2" charset="0"/>
              </a:rPr>
              <a:t>, </a:t>
            </a:r>
            <a:r>
              <a:rPr lang="en-GB" sz="1400" dirty="0" err="1">
                <a:latin typeface="Montserrat" panose="00000500000000000000" pitchFamily="2" charset="0"/>
              </a:rPr>
              <a:t>financeiros</a:t>
            </a:r>
            <a:r>
              <a:rPr lang="en-GB" sz="1400" dirty="0">
                <a:latin typeface="Montserrat" panose="00000500000000000000" pitchFamily="2" charset="0"/>
              </a:rPr>
              <a:t> e </a:t>
            </a:r>
            <a:r>
              <a:rPr lang="en-GB" sz="1400" dirty="0" err="1">
                <a:latin typeface="Montserrat" panose="00000500000000000000" pitchFamily="2" charset="0"/>
              </a:rPr>
              <a:t>estatísticos</a:t>
            </a:r>
            <a:r>
              <a:rPr lang="en-GB" sz="1400" dirty="0">
                <a:latin typeface="Montserrat" panose="00000500000000000000" pitchFamily="2" charset="0"/>
              </a:rPr>
              <a:t> das unidades hospitalares</a:t>
            </a:r>
            <a:r>
              <a:rPr lang="en-GB" sz="1400" dirty="0" smtClean="0">
                <a:latin typeface="Montserrat" panose="00000500000000000000" pitchFamily="2" charset="0"/>
              </a:rPr>
              <a:t>.</a:t>
            </a:r>
          </a:p>
          <a:p>
            <a:pPr algn="just"/>
            <a:endParaRPr lang="pt-PT" sz="1400" dirty="0">
              <a:latin typeface="Montserrat" panose="00000500000000000000" pitchFamily="2" charset="0"/>
            </a:endParaRPr>
          </a:p>
          <a:p>
            <a:pPr algn="just"/>
            <a:r>
              <a:rPr lang="en-GB" sz="1400" dirty="0">
                <a:latin typeface="Montserrat" panose="00000500000000000000" pitchFamily="2" charset="0"/>
              </a:rPr>
              <a:t>O sistema </a:t>
            </a:r>
            <a:r>
              <a:rPr lang="en-GB" sz="1400" dirty="0" err="1">
                <a:latin typeface="Montserrat" panose="00000500000000000000" pitchFamily="2" charset="0"/>
              </a:rPr>
              <a:t>será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concebido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prioritariamente</a:t>
            </a:r>
            <a:r>
              <a:rPr lang="en-GB" sz="1400" dirty="0">
                <a:latin typeface="Montserrat" panose="00000500000000000000" pitchFamily="2" charset="0"/>
              </a:rPr>
              <a:t> para </a:t>
            </a:r>
            <a:r>
              <a:rPr lang="en-GB" sz="1400" dirty="0" err="1">
                <a:latin typeface="Montserrat" panose="00000500000000000000" pitchFamily="2" charset="0"/>
              </a:rPr>
              <a:t>funcionar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em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b="1" dirty="0" err="1">
                <a:latin typeface="Montserrat" panose="00000500000000000000" pitchFamily="2" charset="0"/>
              </a:rPr>
              <a:t>ambientes</a:t>
            </a:r>
            <a:r>
              <a:rPr lang="en-GB" sz="1400" b="1" dirty="0">
                <a:latin typeface="Montserrat" panose="00000500000000000000" pitchFamily="2" charset="0"/>
              </a:rPr>
              <a:t> com </a:t>
            </a:r>
            <a:r>
              <a:rPr lang="en-GB" sz="1400" b="1" dirty="0" err="1">
                <a:latin typeface="Montserrat" panose="00000500000000000000" pitchFamily="2" charset="0"/>
              </a:rPr>
              <a:t>conectividade</a:t>
            </a:r>
            <a:r>
              <a:rPr lang="en-GB" sz="1400" b="1" dirty="0">
                <a:latin typeface="Montserrat" panose="00000500000000000000" pitchFamily="2" charset="0"/>
              </a:rPr>
              <a:t> </a:t>
            </a:r>
            <a:r>
              <a:rPr lang="en-GB" sz="1400" b="1" dirty="0" err="1">
                <a:latin typeface="Montserrat" panose="00000500000000000000" pitchFamily="2" charset="0"/>
              </a:rPr>
              <a:t>limitada</a:t>
            </a:r>
            <a:r>
              <a:rPr lang="en-GB" sz="1400" dirty="0">
                <a:latin typeface="Montserrat" panose="00000500000000000000" pitchFamily="2" charset="0"/>
              </a:rPr>
              <a:t>, </a:t>
            </a:r>
            <a:r>
              <a:rPr lang="en-GB" sz="1400" dirty="0" err="1">
                <a:latin typeface="Montserrat" panose="00000500000000000000" pitchFamily="2" charset="0"/>
              </a:rPr>
              <a:t>permitindo</a:t>
            </a:r>
            <a:r>
              <a:rPr lang="en-GB" sz="1400" dirty="0">
                <a:latin typeface="Montserrat" panose="00000500000000000000" pitchFamily="2" charset="0"/>
              </a:rPr>
              <a:t> a </a:t>
            </a:r>
            <a:r>
              <a:rPr lang="en-GB" sz="1400" dirty="0" err="1">
                <a:latin typeface="Montserrat" panose="00000500000000000000" pitchFamily="2" charset="0"/>
              </a:rPr>
              <a:t>operação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em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modo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b="1" dirty="0">
                <a:latin typeface="Montserrat" panose="00000500000000000000" pitchFamily="2" charset="0"/>
              </a:rPr>
              <a:t>offline</a:t>
            </a:r>
            <a:r>
              <a:rPr lang="en-GB" sz="1400" dirty="0">
                <a:latin typeface="Montserrat" panose="00000500000000000000" pitchFamily="2" charset="0"/>
              </a:rPr>
              <a:t> e a posterior </a:t>
            </a:r>
            <a:r>
              <a:rPr lang="en-GB" sz="1400" dirty="0" err="1">
                <a:latin typeface="Montserrat" panose="00000500000000000000" pitchFamily="2" charset="0"/>
              </a:rPr>
              <a:t>sincronização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segura</a:t>
            </a:r>
            <a:r>
              <a:rPr lang="en-GB" sz="1400" dirty="0">
                <a:latin typeface="Montserrat" panose="00000500000000000000" pitchFamily="2" charset="0"/>
              </a:rPr>
              <a:t> dos dados </a:t>
            </a:r>
            <a:r>
              <a:rPr lang="en-GB" sz="1400" dirty="0" err="1">
                <a:latin typeface="Montserrat" panose="00000500000000000000" pitchFamily="2" charset="0"/>
              </a:rPr>
              <a:t>quando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existir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ligação</a:t>
            </a:r>
            <a:r>
              <a:rPr lang="en-GB" sz="1400" dirty="0">
                <a:latin typeface="Montserrat" panose="00000500000000000000" pitchFamily="2" charset="0"/>
              </a:rPr>
              <a:t> à Internet.</a:t>
            </a:r>
            <a:endParaRPr lang="pt-PT" sz="1400" dirty="0">
              <a:latin typeface="Montserrat" panose="00000500000000000000" pitchFamily="2" charset="0"/>
            </a:endParaRPr>
          </a:p>
          <a:p>
            <a:pPr algn="just"/>
            <a:endParaRPr lang="en-GB" sz="1400" dirty="0" smtClean="0">
              <a:latin typeface="Montserrat" panose="00000500000000000000" pitchFamily="2" charset="0"/>
            </a:endParaRPr>
          </a:p>
          <a:p>
            <a:pPr algn="just"/>
            <a:r>
              <a:rPr lang="en-GB" sz="1400" dirty="0" smtClean="0">
                <a:latin typeface="Montserrat" panose="00000500000000000000" pitchFamily="2" charset="0"/>
              </a:rPr>
              <a:t>O </a:t>
            </a:r>
            <a:r>
              <a:rPr lang="en-GB" sz="1400" dirty="0" err="1">
                <a:latin typeface="Montserrat" panose="00000500000000000000" pitchFamily="2" charset="0"/>
              </a:rPr>
              <a:t>projeto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pretende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contribuir</a:t>
            </a:r>
            <a:r>
              <a:rPr lang="en-GB" sz="1400" dirty="0">
                <a:latin typeface="Montserrat" panose="00000500000000000000" pitchFamily="2" charset="0"/>
              </a:rPr>
              <a:t> para a </a:t>
            </a:r>
            <a:r>
              <a:rPr lang="en-GB" sz="1400" dirty="0" err="1">
                <a:latin typeface="Montserrat" panose="00000500000000000000" pitchFamily="2" charset="0"/>
              </a:rPr>
              <a:t>transformação</a:t>
            </a:r>
            <a:r>
              <a:rPr lang="en-GB" sz="1400" dirty="0">
                <a:latin typeface="Montserrat" panose="00000500000000000000" pitchFamily="2" charset="0"/>
              </a:rPr>
              <a:t> digital dos </a:t>
            </a:r>
            <a:r>
              <a:rPr lang="en-GB" sz="1400" dirty="0" err="1">
                <a:latin typeface="Montserrat" panose="00000500000000000000" pitchFamily="2" charset="0"/>
              </a:rPr>
              <a:t>serviços</a:t>
            </a:r>
            <a:r>
              <a:rPr lang="en-GB" sz="1400" dirty="0">
                <a:latin typeface="Montserrat" panose="00000500000000000000" pitchFamily="2" charset="0"/>
              </a:rPr>
              <a:t> hospitalares, </a:t>
            </a:r>
            <a:r>
              <a:rPr lang="en-GB" sz="1400" dirty="0" err="1">
                <a:latin typeface="Montserrat" panose="00000500000000000000" pitchFamily="2" charset="0"/>
              </a:rPr>
              <a:t>redução</a:t>
            </a:r>
            <a:r>
              <a:rPr lang="en-GB" sz="1400" dirty="0">
                <a:latin typeface="Montserrat" panose="00000500000000000000" pitchFamily="2" charset="0"/>
              </a:rPr>
              <a:t> do </a:t>
            </a:r>
            <a:r>
              <a:rPr lang="en-GB" sz="1400" dirty="0" err="1">
                <a:latin typeface="Montserrat" panose="00000500000000000000" pitchFamily="2" charset="0"/>
              </a:rPr>
              <a:t>uso</a:t>
            </a:r>
            <a:r>
              <a:rPr lang="en-GB" sz="1400" dirty="0">
                <a:latin typeface="Montserrat" panose="00000500000000000000" pitchFamily="2" charset="0"/>
              </a:rPr>
              <a:t> de </a:t>
            </a:r>
            <a:r>
              <a:rPr lang="en-GB" sz="1400" dirty="0" err="1">
                <a:latin typeface="Montserrat" panose="00000500000000000000" pitchFamily="2" charset="0"/>
              </a:rPr>
              <a:t>papel</a:t>
            </a:r>
            <a:r>
              <a:rPr lang="en-GB" sz="1400" dirty="0">
                <a:latin typeface="Montserrat" panose="00000500000000000000" pitchFamily="2" charset="0"/>
              </a:rPr>
              <a:t>, </a:t>
            </a:r>
            <a:r>
              <a:rPr lang="en-GB" sz="1400" dirty="0" err="1">
                <a:latin typeface="Montserrat" panose="00000500000000000000" pitchFamily="2" charset="0"/>
              </a:rPr>
              <a:t>melhoria</a:t>
            </a:r>
            <a:r>
              <a:rPr lang="en-GB" sz="1400" dirty="0">
                <a:latin typeface="Montserrat" panose="00000500000000000000" pitchFamily="2" charset="0"/>
              </a:rPr>
              <a:t> da </a:t>
            </a:r>
            <a:r>
              <a:rPr lang="en-GB" sz="1400" dirty="0" err="1">
                <a:latin typeface="Montserrat" panose="00000500000000000000" pitchFamily="2" charset="0"/>
              </a:rPr>
              <a:t>qualidade</a:t>
            </a:r>
            <a:r>
              <a:rPr lang="en-GB" sz="1400" dirty="0">
                <a:latin typeface="Montserrat" panose="00000500000000000000" pitchFamily="2" charset="0"/>
              </a:rPr>
              <a:t> dos dados, </a:t>
            </a:r>
            <a:r>
              <a:rPr lang="en-GB" sz="1400" dirty="0" err="1">
                <a:latin typeface="Montserrat" panose="00000500000000000000" pitchFamily="2" charset="0"/>
              </a:rPr>
              <a:t>automatização</a:t>
            </a:r>
            <a:r>
              <a:rPr lang="en-GB" sz="1400" dirty="0">
                <a:latin typeface="Montserrat" panose="00000500000000000000" pitchFamily="2" charset="0"/>
              </a:rPr>
              <a:t> dos </a:t>
            </a:r>
            <a:r>
              <a:rPr lang="en-GB" sz="1400" dirty="0" err="1">
                <a:latin typeface="Montserrat" panose="00000500000000000000" pitchFamily="2" charset="0"/>
              </a:rPr>
              <a:t>processos</a:t>
            </a:r>
            <a:r>
              <a:rPr lang="en-GB" sz="1400" dirty="0">
                <a:latin typeface="Montserrat" panose="00000500000000000000" pitchFamily="2" charset="0"/>
              </a:rPr>
              <a:t> e </a:t>
            </a:r>
            <a:r>
              <a:rPr lang="en-GB" sz="1400" dirty="0" err="1">
                <a:latin typeface="Montserrat" panose="00000500000000000000" pitchFamily="2" charset="0"/>
              </a:rPr>
              <a:t>disponibilização</a:t>
            </a:r>
            <a:r>
              <a:rPr lang="en-GB" sz="1400" dirty="0">
                <a:latin typeface="Montserrat" panose="00000500000000000000" pitchFamily="2" charset="0"/>
              </a:rPr>
              <a:t> de </a:t>
            </a:r>
            <a:r>
              <a:rPr lang="en-GB" sz="1400" dirty="0" err="1">
                <a:latin typeface="Montserrat" panose="00000500000000000000" pitchFamily="2" charset="0"/>
              </a:rPr>
              <a:t>informação</a:t>
            </a:r>
            <a:r>
              <a:rPr lang="en-GB" sz="1400" dirty="0">
                <a:latin typeface="Montserrat" panose="00000500000000000000" pitchFamily="2" charset="0"/>
              </a:rPr>
              <a:t> para a </a:t>
            </a:r>
            <a:r>
              <a:rPr lang="en-GB" sz="1400" dirty="0" err="1">
                <a:latin typeface="Montserrat" panose="00000500000000000000" pitchFamily="2" charset="0"/>
              </a:rPr>
              <a:t>tomada</a:t>
            </a:r>
            <a:r>
              <a:rPr lang="en-GB" sz="1400" dirty="0">
                <a:latin typeface="Montserrat" panose="00000500000000000000" pitchFamily="2" charset="0"/>
              </a:rPr>
              <a:t> de </a:t>
            </a:r>
            <a:r>
              <a:rPr lang="en-GB" sz="1400" dirty="0" err="1">
                <a:latin typeface="Montserrat" panose="00000500000000000000" pitchFamily="2" charset="0"/>
              </a:rPr>
              <a:t>decisão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nos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níveis</a:t>
            </a:r>
            <a:r>
              <a:rPr lang="en-GB" sz="1400" dirty="0">
                <a:latin typeface="Montserrat" panose="00000500000000000000" pitchFamily="2" charset="0"/>
              </a:rPr>
              <a:t> </a:t>
            </a:r>
            <a:r>
              <a:rPr lang="en-GB" sz="1400" dirty="0" err="1">
                <a:latin typeface="Montserrat" panose="00000500000000000000" pitchFamily="2" charset="0"/>
              </a:rPr>
              <a:t>hospitalar</a:t>
            </a:r>
            <a:r>
              <a:rPr lang="en-GB" sz="1400" dirty="0">
                <a:latin typeface="Montserrat" panose="00000500000000000000" pitchFamily="2" charset="0"/>
              </a:rPr>
              <a:t>, municipal, provincial e </a:t>
            </a:r>
            <a:r>
              <a:rPr lang="en-GB" sz="1400" dirty="0" err="1">
                <a:latin typeface="Montserrat" panose="00000500000000000000" pitchFamily="2" charset="0"/>
              </a:rPr>
              <a:t>nacional</a:t>
            </a:r>
            <a:endParaRPr lang="pt-PT" sz="1400" dirty="0">
              <a:latin typeface="Montserrat" panose="00000500000000000000" pitchFamily="2" charset="0"/>
            </a:endParaRPr>
          </a:p>
        </p:txBody>
      </p:sp>
      <p:pic>
        <p:nvPicPr>
          <p:cNvPr id="5" name="Espaço Reservado para Imagem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" t="840" r="73376" b="38589"/>
          <a:stretch/>
        </p:blipFill>
        <p:spPr>
          <a:xfrm>
            <a:off x="8039320" y="1300088"/>
            <a:ext cx="4152676" cy="3004097"/>
          </a:xfrm>
        </p:spPr>
      </p:pic>
    </p:spTree>
    <p:extLst>
      <p:ext uri="{BB962C8B-B14F-4D97-AF65-F5344CB8AC3E}">
        <p14:creationId xmlns:p14="http://schemas.microsoft.com/office/powerpoint/2010/main" val="123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9CA0E72C-0C91-E211-CDBB-459810DFBF7A}"/>
              </a:ext>
            </a:extLst>
          </p:cNvPr>
          <p:cNvCxnSpPr>
            <a:cxnSpLocks/>
          </p:cNvCxnSpPr>
          <p:nvPr/>
        </p:nvCxnSpPr>
        <p:spPr>
          <a:xfrm>
            <a:off x="3904662" y="2577711"/>
            <a:ext cx="0" cy="288102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xmlns="" id="{E81C48A9-EBD4-8671-4CE9-F36ED3ECE63F}"/>
              </a:ext>
            </a:extLst>
          </p:cNvPr>
          <p:cNvSpPr/>
          <p:nvPr/>
        </p:nvSpPr>
        <p:spPr>
          <a:xfrm>
            <a:off x="0" y="707006"/>
            <a:ext cx="6096000" cy="1420431"/>
          </a:xfrm>
          <a:custGeom>
            <a:avLst/>
            <a:gdLst>
              <a:gd name="connsiteX0" fmla="*/ 0 w 6096000"/>
              <a:gd name="connsiteY0" fmla="*/ 0 h 1420431"/>
              <a:gd name="connsiteX1" fmla="*/ 5775181 w 6096000"/>
              <a:gd name="connsiteY1" fmla="*/ 0 h 1420431"/>
              <a:gd name="connsiteX2" fmla="*/ 6096000 w 6096000"/>
              <a:gd name="connsiteY2" fmla="*/ 320819 h 1420431"/>
              <a:gd name="connsiteX3" fmla="*/ 6096000 w 6096000"/>
              <a:gd name="connsiteY3" fmla="*/ 1099612 h 1420431"/>
              <a:gd name="connsiteX4" fmla="*/ 5775181 w 6096000"/>
              <a:gd name="connsiteY4" fmla="*/ 1420431 h 1420431"/>
              <a:gd name="connsiteX5" fmla="*/ 0 w 6096000"/>
              <a:gd name="connsiteY5" fmla="*/ 1420431 h 1420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1420431">
                <a:moveTo>
                  <a:pt x="0" y="0"/>
                </a:moveTo>
                <a:lnTo>
                  <a:pt x="5775181" y="0"/>
                </a:lnTo>
                <a:cubicBezTo>
                  <a:pt x="5952364" y="0"/>
                  <a:pt x="6096000" y="143636"/>
                  <a:pt x="6096000" y="320819"/>
                </a:cubicBezTo>
                <a:lnTo>
                  <a:pt x="6096000" y="1099612"/>
                </a:lnTo>
                <a:cubicBezTo>
                  <a:pt x="6096000" y="1276795"/>
                  <a:pt x="5952364" y="1420431"/>
                  <a:pt x="5775181" y="1420431"/>
                </a:cubicBezTo>
                <a:lnTo>
                  <a:pt x="0" y="142043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xmlns="" id="{3F946E38-97C3-DA97-1E85-5920EA3DB927}"/>
              </a:ext>
            </a:extLst>
          </p:cNvPr>
          <p:cNvSpPr/>
          <p:nvPr/>
        </p:nvSpPr>
        <p:spPr>
          <a:xfrm flipH="1">
            <a:off x="8908326" y="0"/>
            <a:ext cx="328367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xmlns="" id="{E6FBCBE5-7A35-C58D-1471-48B39F82C1ED}"/>
              </a:ext>
            </a:extLst>
          </p:cNvPr>
          <p:cNvSpPr txBox="1"/>
          <p:nvPr/>
        </p:nvSpPr>
        <p:spPr>
          <a:xfrm>
            <a:off x="404308" y="1231409"/>
            <a:ext cx="567655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pt-BR" sz="3600" b="1" dirty="0" smtClean="0">
                <a:solidFill>
                  <a:schemeClr val="bg1"/>
                </a:solidFill>
                <a:latin typeface="Montserrat" panose="02000505000000020004" pitchFamily="2" charset="0"/>
                <a:ea typeface="Roboto" panose="02000000000000000000" pitchFamily="2" charset="0"/>
              </a:rPr>
              <a:t>Objectivos </a:t>
            </a:r>
            <a:r>
              <a:rPr lang="pt-BR" sz="3600" b="1" dirty="0">
                <a:solidFill>
                  <a:schemeClr val="bg1"/>
                </a:solidFill>
                <a:latin typeface="Montserrat" panose="02000505000000020004" pitchFamily="2" charset="0"/>
                <a:ea typeface="Roboto" panose="02000000000000000000" pitchFamily="2" charset="0"/>
              </a:rPr>
              <a:t>do </a:t>
            </a:r>
            <a:r>
              <a:rPr lang="pt-BR" sz="3600" b="1" dirty="0" err="1" smtClean="0">
                <a:solidFill>
                  <a:schemeClr val="bg1"/>
                </a:solidFill>
                <a:latin typeface="Montserrat" panose="02000505000000020004" pitchFamily="2" charset="0"/>
                <a:ea typeface="Roboto" panose="02000000000000000000" pitchFamily="2" charset="0"/>
              </a:rPr>
              <a:t>projecto</a:t>
            </a:r>
            <a:endParaRPr lang="id-ID" sz="3600" b="1" dirty="0">
              <a:solidFill>
                <a:schemeClr val="bg1"/>
              </a:solidFill>
              <a:latin typeface="Montserrat" panose="02000505000000020004" pitchFamily="2" charset="0"/>
              <a:ea typeface="Roboto" panose="02000000000000000000" pitchFamily="2" charset="0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xmlns="" id="{B7313C36-CF70-846D-180C-F7175351154E}"/>
              </a:ext>
            </a:extLst>
          </p:cNvPr>
          <p:cNvSpPr/>
          <p:nvPr/>
        </p:nvSpPr>
        <p:spPr>
          <a:xfrm>
            <a:off x="713890" y="2965688"/>
            <a:ext cx="16995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0"/>
              </a:rPr>
              <a:t>1. Objetivo Geral</a:t>
            </a:r>
            <a:endParaRPr lang="id-ID" sz="1400" b="1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00505000000020004" pitchFamily="2" charset="0"/>
            </a:endParaRPr>
          </a:p>
        </p:txBody>
      </p:sp>
      <p:sp>
        <p:nvSpPr>
          <p:cNvPr id="11" name="7 CuadroTexto">
            <a:extLst>
              <a:ext uri="{FF2B5EF4-FFF2-40B4-BE49-F238E27FC236}">
                <a16:creationId xmlns:a16="http://schemas.microsoft.com/office/drawing/2014/main" xmlns="" id="{4F88BF9A-53B2-9818-2AC0-515DC8CCCEA5}"/>
              </a:ext>
            </a:extLst>
          </p:cNvPr>
          <p:cNvSpPr txBox="1"/>
          <p:nvPr/>
        </p:nvSpPr>
        <p:spPr>
          <a:xfrm>
            <a:off x="668181" y="3211753"/>
            <a:ext cx="3106219" cy="2059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280"/>
              </a:lnSpc>
              <a:defRPr/>
            </a:pPr>
            <a:endParaRPr lang="en-US" sz="1300" dirty="0">
              <a:solidFill>
                <a:schemeClr val="bg1">
                  <a:lumMod val="50000"/>
                </a:schemeClr>
              </a:solidFill>
              <a:latin typeface="Montserrat" panose="00000500000000000000" pitchFamily="2" charset="0"/>
              <a:ea typeface="Roboto" panose="02000000000000000000" pitchFamily="2" charset="0"/>
              <a:cs typeface="Lato" charset="0"/>
            </a:endParaRPr>
          </a:p>
          <a:p>
            <a:pPr algn="just"/>
            <a:r>
              <a:rPr lang="en-GB" sz="1300" dirty="0">
                <a:latin typeface="Montserrat" panose="00000500000000000000" pitchFamily="2" charset="0"/>
              </a:rPr>
              <a:t>Desenvolver e implementar um Sistema Integrado de Gestão Hospitalar </a:t>
            </a:r>
            <a:r>
              <a:rPr lang="en-GB" sz="1300" dirty="0" err="1">
                <a:latin typeface="Montserrat" panose="00000500000000000000" pitchFamily="2" charset="0"/>
              </a:rPr>
              <a:t>capaz</a:t>
            </a:r>
            <a:r>
              <a:rPr lang="en-GB" sz="1300" dirty="0">
                <a:latin typeface="Montserrat" panose="00000500000000000000" pitchFamily="2" charset="0"/>
              </a:rPr>
              <a:t> de </a:t>
            </a:r>
            <a:r>
              <a:rPr lang="en-GB" sz="1300" dirty="0" err="1">
                <a:latin typeface="Montserrat" panose="00000500000000000000" pitchFamily="2" charset="0"/>
              </a:rPr>
              <a:t>digitalizar</a:t>
            </a:r>
            <a:r>
              <a:rPr lang="en-GB" sz="1300" dirty="0">
                <a:latin typeface="Montserrat" panose="00000500000000000000" pitchFamily="2" charset="0"/>
              </a:rPr>
              <a:t>, </a:t>
            </a:r>
            <a:r>
              <a:rPr lang="en-GB" sz="1300" dirty="0" err="1">
                <a:latin typeface="Montserrat" panose="00000500000000000000" pitchFamily="2" charset="0"/>
              </a:rPr>
              <a:t>integrar</a:t>
            </a:r>
            <a:r>
              <a:rPr lang="en-GB" sz="1300" dirty="0">
                <a:latin typeface="Montserrat" panose="00000500000000000000" pitchFamily="2" charset="0"/>
              </a:rPr>
              <a:t> e </a:t>
            </a:r>
            <a:r>
              <a:rPr lang="en-GB" sz="1300" dirty="0" err="1">
                <a:latin typeface="Montserrat" panose="00000500000000000000" pitchFamily="2" charset="0"/>
              </a:rPr>
              <a:t>automatizar</a:t>
            </a:r>
            <a:r>
              <a:rPr lang="en-GB" sz="1300" dirty="0">
                <a:latin typeface="Montserrat" panose="00000500000000000000" pitchFamily="2" charset="0"/>
              </a:rPr>
              <a:t> </a:t>
            </a:r>
            <a:r>
              <a:rPr lang="en-GB" sz="1300" dirty="0" err="1">
                <a:latin typeface="Montserrat" panose="00000500000000000000" pitchFamily="2" charset="0"/>
              </a:rPr>
              <a:t>os</a:t>
            </a:r>
            <a:r>
              <a:rPr lang="en-GB" sz="1300" dirty="0">
                <a:latin typeface="Montserrat" panose="00000500000000000000" pitchFamily="2" charset="0"/>
              </a:rPr>
              <a:t> </a:t>
            </a:r>
            <a:r>
              <a:rPr lang="en-GB" sz="1300" dirty="0" err="1">
                <a:latin typeface="Montserrat" panose="00000500000000000000" pitchFamily="2" charset="0"/>
              </a:rPr>
              <a:t>principais</a:t>
            </a:r>
            <a:r>
              <a:rPr lang="en-GB" sz="1300" dirty="0">
                <a:latin typeface="Montserrat" panose="00000500000000000000" pitchFamily="2" charset="0"/>
              </a:rPr>
              <a:t> </a:t>
            </a:r>
            <a:r>
              <a:rPr lang="en-GB" sz="1300" dirty="0" err="1">
                <a:latin typeface="Montserrat" panose="00000500000000000000" pitchFamily="2" charset="0"/>
              </a:rPr>
              <a:t>processos</a:t>
            </a:r>
            <a:r>
              <a:rPr lang="en-GB" sz="1300" dirty="0">
                <a:latin typeface="Montserrat" panose="00000500000000000000" pitchFamily="2" charset="0"/>
              </a:rPr>
              <a:t> </a:t>
            </a:r>
            <a:r>
              <a:rPr lang="en-GB" sz="1300" dirty="0" err="1">
                <a:latin typeface="Montserrat" panose="00000500000000000000" pitchFamily="2" charset="0"/>
              </a:rPr>
              <a:t>clínicos</a:t>
            </a:r>
            <a:r>
              <a:rPr lang="en-GB" sz="1300" dirty="0">
                <a:latin typeface="Montserrat" panose="00000500000000000000" pitchFamily="2" charset="0"/>
              </a:rPr>
              <a:t>, administrativos, </a:t>
            </a:r>
            <a:r>
              <a:rPr lang="en-GB" sz="1300" dirty="0" err="1">
                <a:latin typeface="Montserrat" panose="00000500000000000000" pitchFamily="2" charset="0"/>
              </a:rPr>
              <a:t>logísticos</a:t>
            </a:r>
            <a:r>
              <a:rPr lang="en-GB" sz="1300" dirty="0">
                <a:latin typeface="Montserrat" panose="00000500000000000000" pitchFamily="2" charset="0"/>
              </a:rPr>
              <a:t> e </a:t>
            </a:r>
            <a:r>
              <a:rPr lang="en-GB" sz="1300" dirty="0" err="1">
                <a:latin typeface="Montserrat" panose="00000500000000000000" pitchFamily="2" charset="0"/>
              </a:rPr>
              <a:t>estatísticos</a:t>
            </a:r>
            <a:r>
              <a:rPr lang="en-GB" sz="1300" dirty="0">
                <a:latin typeface="Montserrat" panose="00000500000000000000" pitchFamily="2" charset="0"/>
              </a:rPr>
              <a:t> de </a:t>
            </a:r>
            <a:r>
              <a:rPr lang="en-GB" sz="1300" dirty="0" err="1">
                <a:latin typeface="Montserrat" panose="00000500000000000000" pitchFamily="2" charset="0"/>
              </a:rPr>
              <a:t>hospitais</a:t>
            </a:r>
            <a:r>
              <a:rPr lang="en-GB" sz="1300" dirty="0">
                <a:latin typeface="Montserrat" panose="00000500000000000000" pitchFamily="2" charset="0"/>
              </a:rPr>
              <a:t> de </a:t>
            </a:r>
            <a:r>
              <a:rPr lang="en-GB" sz="1300" dirty="0" err="1">
                <a:latin typeface="Montserrat" panose="00000500000000000000" pitchFamily="2" charset="0"/>
              </a:rPr>
              <a:t>Tipologia</a:t>
            </a:r>
            <a:r>
              <a:rPr lang="en-GB" sz="1300" dirty="0">
                <a:latin typeface="Montserrat" panose="00000500000000000000" pitchFamily="2" charset="0"/>
              </a:rPr>
              <a:t> A, com </a:t>
            </a:r>
            <a:r>
              <a:rPr lang="en-GB" sz="1300" dirty="0" err="1">
                <a:latin typeface="Montserrat" panose="00000500000000000000" pitchFamily="2" charset="0"/>
              </a:rPr>
              <a:t>funcionamento</a:t>
            </a:r>
            <a:r>
              <a:rPr lang="en-GB" sz="1300" dirty="0">
                <a:latin typeface="Montserrat" panose="00000500000000000000" pitchFamily="2" charset="0"/>
              </a:rPr>
              <a:t> online e offline</a:t>
            </a:r>
            <a:r>
              <a:rPr lang="en-GB" sz="1300" dirty="0" smtClean="0">
                <a:latin typeface="Montserrat" panose="00000500000000000000" pitchFamily="2" charset="0"/>
              </a:rPr>
              <a:t>.</a:t>
            </a:r>
            <a:endParaRPr lang="pt-PT" sz="1300" dirty="0">
              <a:latin typeface="Montserrat" panose="00000500000000000000" pitchFamily="2" charset="0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xmlns="" id="{3221DAAE-BD5F-5B75-EFEE-6E321D2DA326}"/>
              </a:ext>
            </a:extLst>
          </p:cNvPr>
          <p:cNvSpPr/>
          <p:nvPr/>
        </p:nvSpPr>
        <p:spPr>
          <a:xfrm>
            <a:off x="4227621" y="2903976"/>
            <a:ext cx="21996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0"/>
              </a:rPr>
              <a:t>2. Objetivo Especifico</a:t>
            </a:r>
            <a:endParaRPr lang="id-ID" sz="1400" b="1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00505000000020004" pitchFamily="2" charset="0"/>
            </a:endParaRPr>
          </a:p>
        </p:txBody>
      </p:sp>
      <p:sp>
        <p:nvSpPr>
          <p:cNvPr id="13" name="7 CuadroTexto">
            <a:extLst>
              <a:ext uri="{FF2B5EF4-FFF2-40B4-BE49-F238E27FC236}">
                <a16:creationId xmlns:a16="http://schemas.microsoft.com/office/drawing/2014/main" xmlns="" id="{262415ED-632E-2DB0-09E7-889F524957E6}"/>
              </a:ext>
            </a:extLst>
          </p:cNvPr>
          <p:cNvSpPr txBox="1"/>
          <p:nvPr/>
        </p:nvSpPr>
        <p:spPr>
          <a:xfrm>
            <a:off x="4182500" y="3160047"/>
            <a:ext cx="4725826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300" dirty="0" smtClean="0">
              <a:latin typeface="Montserrat" panose="00000500000000000000" pitchFamily="2" charset="0"/>
            </a:endParaRPr>
          </a:p>
          <a:p>
            <a:r>
              <a:rPr lang="en-GB" sz="1300" dirty="0" smtClean="0">
                <a:latin typeface="Montserrat" panose="00000500000000000000" pitchFamily="2" charset="0"/>
              </a:rPr>
              <a:t>O </a:t>
            </a:r>
            <a:r>
              <a:rPr lang="en-GB" sz="1300" dirty="0">
                <a:latin typeface="Montserrat" panose="00000500000000000000" pitchFamily="2" charset="0"/>
              </a:rPr>
              <a:t>sistema deverá:</a:t>
            </a:r>
            <a:endParaRPr lang="pt-PT" sz="1300" dirty="0">
              <a:latin typeface="Montserrat" panose="000005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300" dirty="0" smtClean="0">
                <a:latin typeface="Montserrat" panose="00000500000000000000" pitchFamily="2" charset="0"/>
              </a:rPr>
              <a:t>Criar </a:t>
            </a:r>
            <a:r>
              <a:rPr lang="en-GB" sz="1300" dirty="0">
                <a:latin typeface="Montserrat" panose="00000500000000000000" pitchFamily="2" charset="0"/>
              </a:rPr>
              <a:t>um identificador único para cada paciente.</a:t>
            </a:r>
            <a:endParaRPr lang="pt-PT" sz="1300" dirty="0">
              <a:latin typeface="Montserrat" panose="000005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300" dirty="0">
                <a:latin typeface="Montserrat" panose="00000500000000000000" pitchFamily="2" charset="0"/>
              </a:rPr>
              <a:t>Implementar o prontuário clínico eletrónico.</a:t>
            </a:r>
            <a:endParaRPr lang="pt-PT" sz="1300" dirty="0">
              <a:latin typeface="Montserrat" panose="000005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300" dirty="0" smtClean="0">
                <a:latin typeface="Montserrat" panose="00000500000000000000" pitchFamily="2" charset="0"/>
              </a:rPr>
              <a:t>Gerir consultas e agendas.</a:t>
            </a:r>
            <a:endParaRPr lang="pt-PT" sz="1300" dirty="0" smtClean="0">
              <a:latin typeface="Montserrat" panose="000005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300" dirty="0" smtClean="0">
                <a:latin typeface="Montserrat" panose="00000500000000000000" pitchFamily="2" charset="0"/>
              </a:rPr>
              <a:t>Gerir </a:t>
            </a:r>
            <a:r>
              <a:rPr lang="en-GB" sz="1300" dirty="0">
                <a:latin typeface="Montserrat" panose="00000500000000000000" pitchFamily="2" charset="0"/>
              </a:rPr>
              <a:t>internamentos.</a:t>
            </a:r>
            <a:endParaRPr lang="pt-PT" sz="1300" dirty="0">
              <a:latin typeface="Montserrat" panose="000005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300" dirty="0">
                <a:latin typeface="Montserrat" panose="00000500000000000000" pitchFamily="2" charset="0"/>
              </a:rPr>
              <a:t>Gerir </a:t>
            </a:r>
            <a:r>
              <a:rPr lang="en-GB" sz="1300" dirty="0" smtClean="0">
                <a:latin typeface="Montserrat" panose="00000500000000000000" pitchFamily="2" charset="0"/>
              </a:rPr>
              <a:t>pacientes.</a:t>
            </a:r>
            <a:endParaRPr lang="pt-PT" sz="1300" dirty="0">
              <a:latin typeface="Montserrat" panose="000005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300" dirty="0">
                <a:latin typeface="Montserrat" panose="00000500000000000000" pitchFamily="2" charset="0"/>
              </a:rPr>
              <a:t>Digitalizar prescrições médicas.</a:t>
            </a:r>
            <a:endParaRPr lang="pt-PT" sz="1300" dirty="0">
              <a:latin typeface="Montserrat" panose="000005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300" dirty="0">
                <a:latin typeface="Montserrat" panose="00000500000000000000" pitchFamily="2" charset="0"/>
              </a:rPr>
              <a:t>Gerir </a:t>
            </a:r>
            <a:r>
              <a:rPr lang="en-GB" sz="1300" dirty="0" err="1">
                <a:latin typeface="Montserrat" panose="00000500000000000000" pitchFamily="2" charset="0"/>
              </a:rPr>
              <a:t>pedidos</a:t>
            </a:r>
            <a:r>
              <a:rPr lang="en-GB" sz="1300" dirty="0">
                <a:latin typeface="Montserrat" panose="00000500000000000000" pitchFamily="2" charset="0"/>
              </a:rPr>
              <a:t> e </a:t>
            </a:r>
            <a:r>
              <a:rPr lang="en-GB" sz="1300" dirty="0" err="1">
                <a:latin typeface="Montserrat" panose="00000500000000000000" pitchFamily="2" charset="0"/>
              </a:rPr>
              <a:t>resultados</a:t>
            </a:r>
            <a:r>
              <a:rPr lang="en-GB" sz="1300" dirty="0">
                <a:latin typeface="Montserrat" panose="00000500000000000000" pitchFamily="2" charset="0"/>
              </a:rPr>
              <a:t> de </a:t>
            </a:r>
            <a:r>
              <a:rPr lang="en-GB" sz="1300" dirty="0" err="1">
                <a:latin typeface="Montserrat" panose="00000500000000000000" pitchFamily="2" charset="0"/>
              </a:rPr>
              <a:t>exames</a:t>
            </a:r>
            <a:r>
              <a:rPr lang="en-GB" sz="1300" dirty="0">
                <a:latin typeface="Montserrat" panose="00000500000000000000" pitchFamily="2" charset="0"/>
              </a:rPr>
              <a:t>.</a:t>
            </a:r>
            <a:endParaRPr lang="pt-PT" sz="1300" dirty="0">
              <a:latin typeface="Montserrat" panose="000005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300" dirty="0" smtClean="0">
                <a:latin typeface="Montserrat" panose="00000500000000000000" pitchFamily="2" charset="0"/>
              </a:rPr>
              <a:t>Gerir </a:t>
            </a:r>
            <a:r>
              <a:rPr lang="en-GB" sz="1300" dirty="0" err="1">
                <a:latin typeface="Montserrat" panose="00000500000000000000" pitchFamily="2" charset="0"/>
              </a:rPr>
              <a:t>medicamentos</a:t>
            </a:r>
            <a:r>
              <a:rPr lang="en-GB" sz="1300" dirty="0">
                <a:latin typeface="Montserrat" panose="00000500000000000000" pitchFamily="2" charset="0"/>
              </a:rPr>
              <a:t>.</a:t>
            </a:r>
            <a:endParaRPr lang="pt-PT" sz="1300" dirty="0">
              <a:latin typeface="Montserrat" panose="000005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300" dirty="0" err="1" smtClean="0">
                <a:latin typeface="Montserrat" panose="00000500000000000000" pitchFamily="2" charset="0"/>
              </a:rPr>
              <a:t>Disponibilizar</a:t>
            </a:r>
            <a:r>
              <a:rPr lang="en-GB" sz="1300" dirty="0" smtClean="0">
                <a:latin typeface="Montserrat" panose="00000500000000000000" pitchFamily="2" charset="0"/>
              </a:rPr>
              <a:t> </a:t>
            </a:r>
            <a:r>
              <a:rPr lang="en-GB" sz="1300" dirty="0">
                <a:latin typeface="Montserrat" panose="00000500000000000000" pitchFamily="2" charset="0"/>
              </a:rPr>
              <a:t>dashboards de </a:t>
            </a:r>
            <a:r>
              <a:rPr lang="en-GB" sz="1300" dirty="0" err="1">
                <a:latin typeface="Montserrat" panose="00000500000000000000" pitchFamily="2" charset="0"/>
              </a:rPr>
              <a:t>gestão</a:t>
            </a:r>
            <a:r>
              <a:rPr lang="en-GB" sz="1300" dirty="0">
                <a:latin typeface="Montserrat" panose="00000500000000000000" pitchFamily="2" charset="0"/>
              </a:rPr>
              <a:t>.</a:t>
            </a:r>
            <a:endParaRPr lang="pt-PT" sz="1300" dirty="0">
              <a:latin typeface="Montserrat" panose="000005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300" dirty="0" err="1">
                <a:latin typeface="Montserrat" panose="00000500000000000000" pitchFamily="2" charset="0"/>
              </a:rPr>
              <a:t>Permitir</a:t>
            </a:r>
            <a:r>
              <a:rPr lang="en-GB" sz="1300" dirty="0">
                <a:latin typeface="Montserrat" panose="00000500000000000000" pitchFamily="2" charset="0"/>
              </a:rPr>
              <a:t> </a:t>
            </a:r>
            <a:r>
              <a:rPr lang="en-GB" sz="1300" dirty="0" err="1">
                <a:latin typeface="Montserrat" panose="00000500000000000000" pitchFamily="2" charset="0"/>
              </a:rPr>
              <a:t>funcionamento</a:t>
            </a:r>
            <a:r>
              <a:rPr lang="en-GB" sz="1300" dirty="0">
                <a:latin typeface="Montserrat" panose="00000500000000000000" pitchFamily="2" charset="0"/>
              </a:rPr>
              <a:t> offline.</a:t>
            </a:r>
            <a:endParaRPr lang="pt-PT" sz="1300" dirty="0">
              <a:latin typeface="Montserrat" panose="000005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300" dirty="0" err="1" smtClean="0">
                <a:latin typeface="Montserrat" panose="00000500000000000000" pitchFamily="2" charset="0"/>
              </a:rPr>
              <a:t>Garantir</a:t>
            </a:r>
            <a:r>
              <a:rPr lang="en-GB" sz="1300" dirty="0" smtClean="0">
                <a:latin typeface="Montserrat" panose="00000500000000000000" pitchFamily="2" charset="0"/>
              </a:rPr>
              <a:t> </a:t>
            </a:r>
            <a:r>
              <a:rPr lang="en-GB" sz="1300" dirty="0" err="1">
                <a:latin typeface="Montserrat" panose="00000500000000000000" pitchFamily="2" charset="0"/>
              </a:rPr>
              <a:t>rastreabilidade</a:t>
            </a:r>
            <a:r>
              <a:rPr lang="en-GB" sz="1300" dirty="0">
                <a:latin typeface="Montserrat" panose="00000500000000000000" pitchFamily="2" charset="0"/>
              </a:rPr>
              <a:t> das </a:t>
            </a:r>
            <a:r>
              <a:rPr lang="en-GB" sz="1300" dirty="0" err="1">
                <a:latin typeface="Montserrat" panose="00000500000000000000" pitchFamily="2" charset="0"/>
              </a:rPr>
              <a:t>operações</a:t>
            </a:r>
            <a:r>
              <a:rPr lang="en-GB" sz="1300" dirty="0">
                <a:latin typeface="Montserrat" panose="00000500000000000000" pitchFamily="2" charset="0"/>
              </a:rPr>
              <a:t>.</a:t>
            </a:r>
            <a:endParaRPr lang="pt-PT" sz="1300" dirty="0">
              <a:latin typeface="Montserrat" panose="000005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300" dirty="0" err="1" smtClean="0">
                <a:latin typeface="Montserrat" panose="00000500000000000000" pitchFamily="2" charset="0"/>
              </a:rPr>
              <a:t>Permitir</a:t>
            </a:r>
            <a:r>
              <a:rPr lang="en-GB" sz="1300" dirty="0" smtClean="0">
                <a:latin typeface="Montserrat" panose="00000500000000000000" pitchFamily="2" charset="0"/>
              </a:rPr>
              <a:t> </a:t>
            </a:r>
            <a:r>
              <a:rPr lang="en-GB" sz="1300" dirty="0" err="1">
                <a:latin typeface="Montserrat" panose="00000500000000000000" pitchFamily="2" charset="0"/>
              </a:rPr>
              <a:t>expansão</a:t>
            </a:r>
            <a:r>
              <a:rPr lang="en-GB" sz="1300" dirty="0">
                <a:latin typeface="Montserrat" panose="00000500000000000000" pitchFamily="2" charset="0"/>
              </a:rPr>
              <a:t> para </a:t>
            </a:r>
            <a:r>
              <a:rPr lang="en-GB" sz="1300" dirty="0" err="1">
                <a:latin typeface="Montserrat" panose="00000500000000000000" pitchFamily="2" charset="0"/>
              </a:rPr>
              <a:t>outras</a:t>
            </a:r>
            <a:r>
              <a:rPr lang="en-GB" sz="1300" dirty="0">
                <a:latin typeface="Montserrat" panose="00000500000000000000" pitchFamily="2" charset="0"/>
              </a:rPr>
              <a:t> unidades hospitalares.</a:t>
            </a:r>
            <a:endParaRPr lang="pt-PT" sz="1300" dirty="0">
              <a:latin typeface="Montserrat" panose="000005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300" dirty="0" err="1">
                <a:latin typeface="Montserrat" panose="00000500000000000000" pitchFamily="2" charset="0"/>
              </a:rPr>
              <a:t>Facilitar</a:t>
            </a:r>
            <a:r>
              <a:rPr lang="en-GB" sz="1300" dirty="0">
                <a:latin typeface="Montserrat" panose="00000500000000000000" pitchFamily="2" charset="0"/>
              </a:rPr>
              <a:t> a </a:t>
            </a:r>
            <a:r>
              <a:rPr lang="en-GB" sz="1300" dirty="0" err="1">
                <a:latin typeface="Montserrat" panose="00000500000000000000" pitchFamily="2" charset="0"/>
              </a:rPr>
              <a:t>produção</a:t>
            </a:r>
            <a:r>
              <a:rPr lang="en-GB" sz="1300" dirty="0">
                <a:latin typeface="Montserrat" panose="00000500000000000000" pitchFamily="2" charset="0"/>
              </a:rPr>
              <a:t> de </a:t>
            </a:r>
            <a:r>
              <a:rPr lang="en-GB" sz="1300" dirty="0" err="1">
                <a:latin typeface="Montserrat" panose="00000500000000000000" pitchFamily="2" charset="0"/>
              </a:rPr>
              <a:t>relatórios</a:t>
            </a:r>
            <a:r>
              <a:rPr lang="en-GB" sz="1300" dirty="0">
                <a:latin typeface="Montserrat" panose="00000500000000000000" pitchFamily="2" charset="0"/>
              </a:rPr>
              <a:t> </a:t>
            </a:r>
            <a:r>
              <a:rPr lang="en-GB" sz="1300" dirty="0" err="1">
                <a:latin typeface="Montserrat" panose="00000500000000000000" pitchFamily="2" charset="0"/>
              </a:rPr>
              <a:t>municipais</a:t>
            </a:r>
            <a:r>
              <a:rPr lang="en-GB" sz="1300" dirty="0">
                <a:latin typeface="Montserrat" panose="00000500000000000000" pitchFamily="2" charset="0"/>
              </a:rPr>
              <a:t>, </a:t>
            </a:r>
            <a:r>
              <a:rPr lang="en-GB" sz="1300" dirty="0" err="1">
                <a:latin typeface="Montserrat" panose="00000500000000000000" pitchFamily="2" charset="0"/>
              </a:rPr>
              <a:t>provinciais</a:t>
            </a:r>
            <a:r>
              <a:rPr lang="en-GB" sz="1300" dirty="0">
                <a:latin typeface="Montserrat" panose="00000500000000000000" pitchFamily="2" charset="0"/>
              </a:rPr>
              <a:t> e </a:t>
            </a:r>
            <a:r>
              <a:rPr lang="en-GB" sz="1300" dirty="0" err="1">
                <a:latin typeface="Montserrat" panose="00000500000000000000" pitchFamily="2" charset="0"/>
              </a:rPr>
              <a:t>nacionais</a:t>
            </a:r>
            <a:r>
              <a:rPr lang="en-GB" sz="1300" dirty="0" smtClean="0">
                <a:latin typeface="Montserrat" panose="00000500000000000000" pitchFamily="2" charset="0"/>
              </a:rPr>
              <a:t>.</a:t>
            </a:r>
            <a:endParaRPr lang="pt-PT" sz="1300" dirty="0">
              <a:latin typeface="Montserrat" panose="00000500000000000000" pitchFamily="2" charset="0"/>
            </a:endParaRPr>
          </a:p>
        </p:txBody>
      </p:sp>
      <p:pic>
        <p:nvPicPr>
          <p:cNvPr id="14" name="Gráfico 27" descr="Alvo">
            <a:extLst>
              <a:ext uri="{FF2B5EF4-FFF2-40B4-BE49-F238E27FC236}">
                <a16:creationId xmlns:a16="http://schemas.microsoft.com/office/drawing/2014/main" xmlns="" id="{333701C4-8FD3-3B70-09D7-E48A0040FA1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12150" r="12150"/>
          <a:stretch>
            <a:fillRect/>
          </a:stretch>
        </p:blipFill>
        <p:spPr>
          <a:xfrm>
            <a:off x="8926151" y="1417221"/>
            <a:ext cx="3169943" cy="415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1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xmlns="" id="{B7E492CD-E77F-C5FD-8497-2BEBD8ADEB21}"/>
              </a:ext>
            </a:extLst>
          </p:cNvPr>
          <p:cNvSpPr/>
          <p:nvPr/>
        </p:nvSpPr>
        <p:spPr>
          <a:xfrm>
            <a:off x="5630390" y="1129862"/>
            <a:ext cx="5791200" cy="4403834"/>
          </a:xfrm>
          <a:prstGeom prst="roundRect">
            <a:avLst>
              <a:gd name="adj" fmla="val 688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xmlns="" id="{5133BD89-A76C-0ED9-D068-0C3EFBD54153}"/>
              </a:ext>
            </a:extLst>
          </p:cNvPr>
          <p:cNvSpPr/>
          <p:nvPr/>
        </p:nvSpPr>
        <p:spPr>
          <a:xfrm>
            <a:off x="0" y="0"/>
            <a:ext cx="2240280" cy="6858000"/>
          </a:xfrm>
          <a:prstGeom prst="rect">
            <a:avLst/>
          </a:prstGeom>
          <a:solidFill>
            <a:schemeClr val="bg1">
              <a:lumMod val="9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xmlns="" id="{80C75C89-995F-8DF1-9CB7-1B09445C59C2}"/>
              </a:ext>
            </a:extLst>
          </p:cNvPr>
          <p:cNvSpPr txBox="1"/>
          <p:nvPr/>
        </p:nvSpPr>
        <p:spPr>
          <a:xfrm>
            <a:off x="6123089" y="1410156"/>
            <a:ext cx="4845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solidFill>
                  <a:schemeClr val="bg1"/>
                </a:solidFill>
                <a:latin typeface="Montserrat" panose="00000500000000000000" pitchFamily="2" charset="0"/>
              </a:rPr>
              <a:t>O PROBLEMA</a:t>
            </a:r>
            <a:endParaRPr lang="pt-PT" sz="28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Espaço Reservado para Imagem 3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9" r="8599"/>
          <a:stretch>
            <a:fillRect/>
          </a:stretch>
        </p:blipFill>
        <p:spPr>
          <a:xfrm>
            <a:off x="769938" y="992188"/>
            <a:ext cx="4035425" cy="4873625"/>
          </a:xfrm>
        </p:spPr>
      </p:pic>
      <p:cxnSp>
        <p:nvCxnSpPr>
          <p:cNvPr id="8" name="Straight Connector 18">
            <a:extLst>
              <a:ext uri="{FF2B5EF4-FFF2-40B4-BE49-F238E27FC236}">
                <a16:creationId xmlns:a16="http://schemas.microsoft.com/office/drawing/2014/main" xmlns="" id="{C4B6D16E-4B77-3589-BF3A-A445B7C5AB73}"/>
              </a:ext>
            </a:extLst>
          </p:cNvPr>
          <p:cNvCxnSpPr>
            <a:cxnSpLocks/>
          </p:cNvCxnSpPr>
          <p:nvPr/>
        </p:nvCxnSpPr>
        <p:spPr>
          <a:xfrm>
            <a:off x="6286814" y="1976911"/>
            <a:ext cx="459139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9">
            <a:extLst>
              <a:ext uri="{FF2B5EF4-FFF2-40B4-BE49-F238E27FC236}">
                <a16:creationId xmlns:a16="http://schemas.microsoft.com/office/drawing/2014/main" xmlns="" id="{1AB12193-EEDA-6AED-F8E4-01F7608A1B18}"/>
              </a:ext>
            </a:extLst>
          </p:cNvPr>
          <p:cNvSpPr txBox="1"/>
          <p:nvPr/>
        </p:nvSpPr>
        <p:spPr>
          <a:xfrm>
            <a:off x="6159875" y="2213958"/>
            <a:ext cx="4845269" cy="3277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Grande parte das unidades hospitalares ainda enfrenta desafios como:</a:t>
            </a:r>
            <a:endParaRPr lang="pt-PT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 </a:t>
            </a:r>
            <a:endParaRPr lang="pt-PT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GB" sz="1400" dirty="0" smtClean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Processos administrativos lentos;</a:t>
            </a:r>
            <a:endParaRPr lang="pt-PT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*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Perda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ou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extravio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de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processos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clínicos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;</a:t>
            </a:r>
            <a:endParaRPr lang="pt-PT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*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Dificuldade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em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aceder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rapidamente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ao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histórico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do paciente;</a:t>
            </a:r>
            <a:endParaRPr lang="pt-PT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*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Falta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de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integração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entre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departamentos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;</a:t>
            </a:r>
            <a:endParaRPr lang="pt-PT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*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Estatísticas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hospitalares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pouco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fiáveis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;</a:t>
            </a:r>
            <a:endParaRPr lang="pt-PT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*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Risco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elevado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de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perda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de dados.</a:t>
            </a:r>
            <a:endParaRPr lang="pt-PT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 </a:t>
            </a:r>
            <a:endParaRPr lang="pt-PT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Estas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limitações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reduzem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a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eficiência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aumentam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os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custos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e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comprometem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a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qualidade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do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atendimento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.</a:t>
            </a:r>
            <a:endParaRPr lang="pt-PT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lnSpc>
                <a:spcPts val="1300"/>
              </a:lnSpc>
            </a:pPr>
            <a:endParaRPr lang="id-ID" sz="1400" dirty="0">
              <a:solidFill>
                <a:schemeClr val="bg1"/>
              </a:solidFill>
              <a:latin typeface="Montserrat" panose="000005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82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orma Livre: Forma 18">
            <a:extLst>
              <a:ext uri="{FF2B5EF4-FFF2-40B4-BE49-F238E27FC236}">
                <a16:creationId xmlns:a16="http://schemas.microsoft.com/office/drawing/2014/main" xmlns="" id="{E81C48A9-EBD4-8671-4CE9-F36ED3ECE63F}"/>
              </a:ext>
            </a:extLst>
          </p:cNvPr>
          <p:cNvSpPr/>
          <p:nvPr/>
        </p:nvSpPr>
        <p:spPr>
          <a:xfrm>
            <a:off x="0" y="1122217"/>
            <a:ext cx="4879571" cy="1005219"/>
          </a:xfrm>
          <a:custGeom>
            <a:avLst/>
            <a:gdLst>
              <a:gd name="connsiteX0" fmla="*/ 0 w 6096000"/>
              <a:gd name="connsiteY0" fmla="*/ 0 h 1420431"/>
              <a:gd name="connsiteX1" fmla="*/ 5775181 w 6096000"/>
              <a:gd name="connsiteY1" fmla="*/ 0 h 1420431"/>
              <a:gd name="connsiteX2" fmla="*/ 6096000 w 6096000"/>
              <a:gd name="connsiteY2" fmla="*/ 320819 h 1420431"/>
              <a:gd name="connsiteX3" fmla="*/ 6096000 w 6096000"/>
              <a:gd name="connsiteY3" fmla="*/ 1099612 h 1420431"/>
              <a:gd name="connsiteX4" fmla="*/ 5775181 w 6096000"/>
              <a:gd name="connsiteY4" fmla="*/ 1420431 h 1420431"/>
              <a:gd name="connsiteX5" fmla="*/ 0 w 6096000"/>
              <a:gd name="connsiteY5" fmla="*/ 1420431 h 1420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1420431">
                <a:moveTo>
                  <a:pt x="0" y="0"/>
                </a:moveTo>
                <a:lnTo>
                  <a:pt x="5775181" y="0"/>
                </a:lnTo>
                <a:cubicBezTo>
                  <a:pt x="5952364" y="0"/>
                  <a:pt x="6096000" y="143636"/>
                  <a:pt x="6096000" y="320819"/>
                </a:cubicBezTo>
                <a:lnTo>
                  <a:pt x="6096000" y="1099612"/>
                </a:lnTo>
                <a:cubicBezTo>
                  <a:pt x="6096000" y="1276795"/>
                  <a:pt x="5952364" y="1420431"/>
                  <a:pt x="5775181" y="1420431"/>
                </a:cubicBezTo>
                <a:lnTo>
                  <a:pt x="0" y="142043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29" name="Rectangle 47">
            <a:extLst>
              <a:ext uri="{FF2B5EF4-FFF2-40B4-BE49-F238E27FC236}">
                <a16:creationId xmlns:a16="http://schemas.microsoft.com/office/drawing/2014/main" xmlns="" id="{D7B73583-35DE-C9B5-CE77-581611523385}"/>
              </a:ext>
            </a:extLst>
          </p:cNvPr>
          <p:cNvSpPr/>
          <p:nvPr/>
        </p:nvSpPr>
        <p:spPr>
          <a:xfrm rot="10800000" flipV="1">
            <a:off x="6613900" y="2228567"/>
            <a:ext cx="25030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quis nostrud exerci tation ullamcorper suscipit lobortis nisl ut</a:t>
            </a:r>
            <a:endParaRPr lang="en-US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0" name="TextBox 48">
            <a:extLst>
              <a:ext uri="{FF2B5EF4-FFF2-40B4-BE49-F238E27FC236}">
                <a16:creationId xmlns:a16="http://schemas.microsoft.com/office/drawing/2014/main" xmlns="" id="{47BC9D44-565E-CAED-F0DA-6B9A13FDA703}"/>
              </a:ext>
            </a:extLst>
          </p:cNvPr>
          <p:cNvSpPr txBox="1"/>
          <p:nvPr/>
        </p:nvSpPr>
        <p:spPr>
          <a:xfrm rot="10800000" flipV="1">
            <a:off x="6696061" y="1996052"/>
            <a:ext cx="2279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>
                <a:solidFill>
                  <a:schemeClr val="bg1"/>
                </a:solidFill>
                <a:latin typeface="Montserrat" panose="00000500000000000000" pitchFamily="50" charset="0"/>
              </a:rPr>
              <a:t>Title Text Here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042" y="0"/>
            <a:ext cx="5685906" cy="6858000"/>
          </a:xfrm>
          <a:prstGeom prst="rect">
            <a:avLst/>
          </a:prstGeom>
        </p:spPr>
      </p:pic>
      <p:sp>
        <p:nvSpPr>
          <p:cNvPr id="32" name="Retângulo 31"/>
          <p:cNvSpPr/>
          <p:nvPr/>
        </p:nvSpPr>
        <p:spPr>
          <a:xfrm>
            <a:off x="307769" y="1313549"/>
            <a:ext cx="43107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kern="1800" dirty="0">
                <a:solidFill>
                  <a:schemeClr val="bg1"/>
                </a:solidFill>
                <a:latin typeface="Montserrat" panose="00000500000000000000" pitchFamily="2" charset="0"/>
                <a:ea typeface="Times New Roman" panose="02020603050405020304" pitchFamily="18" charset="0"/>
              </a:rPr>
              <a:t>ARQUITETURA GERAL</a:t>
            </a:r>
            <a:endParaRPr lang="pt-BR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310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47">
            <a:extLst>
              <a:ext uri="{FF2B5EF4-FFF2-40B4-BE49-F238E27FC236}">
                <a16:creationId xmlns:a16="http://schemas.microsoft.com/office/drawing/2014/main" xmlns="" id="{D7B73583-35DE-C9B5-CE77-581611523385}"/>
              </a:ext>
            </a:extLst>
          </p:cNvPr>
          <p:cNvSpPr/>
          <p:nvPr/>
        </p:nvSpPr>
        <p:spPr>
          <a:xfrm rot="10800000" flipV="1">
            <a:off x="6613900" y="2228567"/>
            <a:ext cx="25030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quis nostrud exerci tation ullamcorper suscipit lobortis nisl ut</a:t>
            </a:r>
            <a:endParaRPr lang="en-US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0" name="TextBox 48">
            <a:extLst>
              <a:ext uri="{FF2B5EF4-FFF2-40B4-BE49-F238E27FC236}">
                <a16:creationId xmlns:a16="http://schemas.microsoft.com/office/drawing/2014/main" xmlns="" id="{47BC9D44-565E-CAED-F0DA-6B9A13FDA703}"/>
              </a:ext>
            </a:extLst>
          </p:cNvPr>
          <p:cNvSpPr txBox="1"/>
          <p:nvPr/>
        </p:nvSpPr>
        <p:spPr>
          <a:xfrm rot="10800000" flipV="1">
            <a:off x="6696061" y="1996052"/>
            <a:ext cx="2279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>
                <a:solidFill>
                  <a:schemeClr val="bg1"/>
                </a:solidFill>
                <a:latin typeface="Montserrat" panose="00000500000000000000" pitchFamily="50" charset="0"/>
              </a:rPr>
              <a:t>Title Text Here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095" y="0"/>
            <a:ext cx="4664711" cy="6858000"/>
          </a:xfrm>
          <a:prstGeom prst="rect">
            <a:avLst/>
          </a:prstGeom>
        </p:spPr>
      </p:pic>
      <p:sp>
        <p:nvSpPr>
          <p:cNvPr id="6" name="Forma Livre: Forma 18">
            <a:extLst>
              <a:ext uri="{FF2B5EF4-FFF2-40B4-BE49-F238E27FC236}">
                <a16:creationId xmlns:a16="http://schemas.microsoft.com/office/drawing/2014/main" xmlns="" id="{E81C48A9-EBD4-8671-4CE9-F36ED3ECE63F}"/>
              </a:ext>
            </a:extLst>
          </p:cNvPr>
          <p:cNvSpPr/>
          <p:nvPr/>
        </p:nvSpPr>
        <p:spPr>
          <a:xfrm>
            <a:off x="0" y="1122217"/>
            <a:ext cx="4879571" cy="1005219"/>
          </a:xfrm>
          <a:custGeom>
            <a:avLst/>
            <a:gdLst>
              <a:gd name="connsiteX0" fmla="*/ 0 w 6096000"/>
              <a:gd name="connsiteY0" fmla="*/ 0 h 1420431"/>
              <a:gd name="connsiteX1" fmla="*/ 5775181 w 6096000"/>
              <a:gd name="connsiteY1" fmla="*/ 0 h 1420431"/>
              <a:gd name="connsiteX2" fmla="*/ 6096000 w 6096000"/>
              <a:gd name="connsiteY2" fmla="*/ 320819 h 1420431"/>
              <a:gd name="connsiteX3" fmla="*/ 6096000 w 6096000"/>
              <a:gd name="connsiteY3" fmla="*/ 1099612 h 1420431"/>
              <a:gd name="connsiteX4" fmla="*/ 5775181 w 6096000"/>
              <a:gd name="connsiteY4" fmla="*/ 1420431 h 1420431"/>
              <a:gd name="connsiteX5" fmla="*/ 0 w 6096000"/>
              <a:gd name="connsiteY5" fmla="*/ 1420431 h 1420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1420431">
                <a:moveTo>
                  <a:pt x="0" y="0"/>
                </a:moveTo>
                <a:lnTo>
                  <a:pt x="5775181" y="0"/>
                </a:lnTo>
                <a:cubicBezTo>
                  <a:pt x="5952364" y="0"/>
                  <a:pt x="6096000" y="143636"/>
                  <a:pt x="6096000" y="320819"/>
                </a:cubicBezTo>
                <a:lnTo>
                  <a:pt x="6096000" y="1099612"/>
                </a:lnTo>
                <a:cubicBezTo>
                  <a:pt x="6096000" y="1276795"/>
                  <a:pt x="5952364" y="1420431"/>
                  <a:pt x="5775181" y="1420431"/>
                </a:cubicBezTo>
                <a:lnTo>
                  <a:pt x="0" y="142043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307769" y="1230419"/>
            <a:ext cx="42642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MODELO DE FLUXO DA INFORMAÇÃO</a:t>
            </a:r>
            <a:endParaRPr lang="pt-BR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369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xmlns="" id="{82224A42-69C3-E97A-4742-B212E15D2E3E}"/>
              </a:ext>
            </a:extLst>
          </p:cNvPr>
          <p:cNvSpPr/>
          <p:nvPr/>
        </p:nvSpPr>
        <p:spPr>
          <a:xfrm>
            <a:off x="709227" y="1698468"/>
            <a:ext cx="6004562" cy="5159532"/>
          </a:xfrm>
          <a:custGeom>
            <a:avLst/>
            <a:gdLst>
              <a:gd name="connsiteX0" fmla="*/ 429386 w 6004562"/>
              <a:gd name="connsiteY0" fmla="*/ 0 h 5159532"/>
              <a:gd name="connsiteX1" fmla="*/ 5575176 w 6004562"/>
              <a:gd name="connsiteY1" fmla="*/ 0 h 5159532"/>
              <a:gd name="connsiteX2" fmla="*/ 6004562 w 6004562"/>
              <a:gd name="connsiteY2" fmla="*/ 429386 h 5159532"/>
              <a:gd name="connsiteX3" fmla="*/ 6004562 w 6004562"/>
              <a:gd name="connsiteY3" fmla="*/ 5159532 h 5159532"/>
              <a:gd name="connsiteX4" fmla="*/ 0 w 6004562"/>
              <a:gd name="connsiteY4" fmla="*/ 5159532 h 5159532"/>
              <a:gd name="connsiteX5" fmla="*/ 0 w 6004562"/>
              <a:gd name="connsiteY5" fmla="*/ 429386 h 5159532"/>
              <a:gd name="connsiteX6" fmla="*/ 429386 w 6004562"/>
              <a:gd name="connsiteY6" fmla="*/ 0 h 5159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4562" h="5159532">
                <a:moveTo>
                  <a:pt x="429386" y="0"/>
                </a:moveTo>
                <a:lnTo>
                  <a:pt x="5575176" y="0"/>
                </a:lnTo>
                <a:cubicBezTo>
                  <a:pt x="5812319" y="0"/>
                  <a:pt x="6004562" y="192243"/>
                  <a:pt x="6004562" y="429386"/>
                </a:cubicBezTo>
                <a:lnTo>
                  <a:pt x="6004562" y="5159532"/>
                </a:lnTo>
                <a:lnTo>
                  <a:pt x="0" y="5159532"/>
                </a:lnTo>
                <a:lnTo>
                  <a:pt x="0" y="429386"/>
                </a:lnTo>
                <a:cubicBezTo>
                  <a:pt x="0" y="192243"/>
                  <a:pt x="192243" y="0"/>
                  <a:pt x="42938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>
                <a:alpha val="34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65094661-9300-275B-0538-92390105F02E}"/>
              </a:ext>
            </a:extLst>
          </p:cNvPr>
          <p:cNvSpPr txBox="1"/>
          <p:nvPr/>
        </p:nvSpPr>
        <p:spPr>
          <a:xfrm>
            <a:off x="929194" y="558515"/>
            <a:ext cx="48406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latin typeface="Montserrat" panose="00000500000000000000" pitchFamily="2" charset="0"/>
              </a:rPr>
              <a:t>DIFERENCIAL ESTRATÉGICO DO SIGH-ANGOLA</a:t>
            </a:r>
            <a:endParaRPr lang="pt-BR" sz="2400" dirty="0">
              <a:latin typeface="Montserrat" panose="00000500000000000000" pitchFamily="2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BBA29194-FF6B-2C5A-8B5B-D5EDA9E6FECF}"/>
              </a:ext>
            </a:extLst>
          </p:cNvPr>
          <p:cNvSpPr/>
          <p:nvPr/>
        </p:nvSpPr>
        <p:spPr>
          <a:xfrm>
            <a:off x="883475" y="677857"/>
            <a:ext cx="45719" cy="436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 62">
            <a:extLst>
              <a:ext uri="{FF2B5EF4-FFF2-40B4-BE49-F238E27FC236}">
                <a16:creationId xmlns:a16="http://schemas.microsoft.com/office/drawing/2014/main" xmlns="" id="{D550853B-3B8A-3473-4D30-B3BE5889595C}"/>
              </a:ext>
            </a:extLst>
          </p:cNvPr>
          <p:cNvSpPr/>
          <p:nvPr/>
        </p:nvSpPr>
        <p:spPr>
          <a:xfrm>
            <a:off x="1662060" y="1907635"/>
            <a:ext cx="21294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latin typeface="Montserrat" panose="00000500000000000000" pitchFamily="2" charset="0"/>
              </a:rPr>
              <a:t>Offline-First</a:t>
            </a:r>
            <a:endParaRPr lang="pt-BR" sz="1200" dirty="0">
              <a:latin typeface="Montserrat" panose="00000500000000000000" pitchFamily="2" charset="0"/>
            </a:endParaRP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xmlns="" id="{97B98B9F-095B-56E4-6BFE-D42C21C40B3F}"/>
              </a:ext>
            </a:extLst>
          </p:cNvPr>
          <p:cNvCxnSpPr>
            <a:cxnSpLocks/>
            <a:stCxn id="14" idx="0"/>
          </p:cNvCxnSpPr>
          <p:nvPr/>
        </p:nvCxnSpPr>
        <p:spPr>
          <a:xfrm>
            <a:off x="1456680" y="1967370"/>
            <a:ext cx="60264" cy="3966179"/>
          </a:xfrm>
          <a:prstGeom prst="line">
            <a:avLst/>
          </a:prstGeom>
          <a:ln w="254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63">
            <a:extLst>
              <a:ext uri="{FF2B5EF4-FFF2-40B4-BE49-F238E27FC236}">
                <a16:creationId xmlns:a16="http://schemas.microsoft.com/office/drawing/2014/main" xmlns="" id="{F533F7E4-76D3-FCF5-0D72-58F3DE889531}"/>
              </a:ext>
            </a:extLst>
          </p:cNvPr>
          <p:cNvSpPr/>
          <p:nvPr/>
        </p:nvSpPr>
        <p:spPr>
          <a:xfrm>
            <a:off x="1672688" y="2078259"/>
            <a:ext cx="4030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err="1">
                <a:latin typeface="Montserrat" panose="00000500000000000000" pitchFamily="2" charset="0"/>
              </a:rPr>
              <a:t>Funcionamento</a:t>
            </a:r>
            <a:r>
              <a:rPr lang="en-GB" sz="1200" dirty="0">
                <a:latin typeface="Montserrat" panose="00000500000000000000" pitchFamily="2" charset="0"/>
              </a:rPr>
              <a:t> </a:t>
            </a:r>
            <a:r>
              <a:rPr lang="en-GB" sz="1200" dirty="0" err="1">
                <a:latin typeface="Montserrat" panose="00000500000000000000" pitchFamily="2" charset="0"/>
              </a:rPr>
              <a:t>mesmo</a:t>
            </a:r>
            <a:r>
              <a:rPr lang="en-GB" sz="1200" dirty="0">
                <a:latin typeface="Montserrat" panose="00000500000000000000" pitchFamily="2" charset="0"/>
              </a:rPr>
              <a:t> </a:t>
            </a:r>
            <a:r>
              <a:rPr lang="en-GB" sz="1200" dirty="0" err="1">
                <a:latin typeface="Montserrat" panose="00000500000000000000" pitchFamily="2" charset="0"/>
              </a:rPr>
              <a:t>sem</a:t>
            </a:r>
            <a:r>
              <a:rPr lang="en-GB" sz="1200" dirty="0">
                <a:latin typeface="Montserrat" panose="00000500000000000000" pitchFamily="2" charset="0"/>
              </a:rPr>
              <a:t> Internet.</a:t>
            </a:r>
            <a:endParaRPr lang="pt-BR" sz="1200" dirty="0">
              <a:latin typeface="Montserrat" panose="00000500000000000000" pitchFamily="2" charset="0"/>
            </a:endParaRPr>
          </a:p>
        </p:txBody>
      </p:sp>
      <p:grpSp>
        <p:nvGrpSpPr>
          <p:cNvPr id="11" name="Group 76">
            <a:extLst>
              <a:ext uri="{FF2B5EF4-FFF2-40B4-BE49-F238E27FC236}">
                <a16:creationId xmlns:a16="http://schemas.microsoft.com/office/drawing/2014/main" xmlns="" id="{ABE66687-E697-A978-3223-852D4E134A6E}"/>
              </a:ext>
            </a:extLst>
          </p:cNvPr>
          <p:cNvGrpSpPr/>
          <p:nvPr/>
        </p:nvGrpSpPr>
        <p:grpSpPr>
          <a:xfrm>
            <a:off x="1204530" y="1898360"/>
            <a:ext cx="504299" cy="469359"/>
            <a:chOff x="912987" y="3985306"/>
            <a:chExt cx="1332461" cy="1332461"/>
          </a:xfrm>
        </p:grpSpPr>
        <p:sp>
          <p:nvSpPr>
            <p:cNvPr id="12" name="Oval 77">
              <a:extLst>
                <a:ext uri="{FF2B5EF4-FFF2-40B4-BE49-F238E27FC236}">
                  <a16:creationId xmlns:a16="http://schemas.microsoft.com/office/drawing/2014/main" xmlns="" id="{3FA3E376-2B52-66A3-0C27-96A7212D8105}"/>
                </a:ext>
              </a:extLst>
            </p:cNvPr>
            <p:cNvSpPr/>
            <p:nvPr/>
          </p:nvSpPr>
          <p:spPr>
            <a:xfrm>
              <a:off x="912987" y="3985306"/>
              <a:ext cx="1332461" cy="1332461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3" name="Oval 78">
              <a:extLst>
                <a:ext uri="{FF2B5EF4-FFF2-40B4-BE49-F238E27FC236}">
                  <a16:creationId xmlns:a16="http://schemas.microsoft.com/office/drawing/2014/main" xmlns="" id="{A8DD54BC-7AD8-AE4A-CC7F-ADE10117F34F}"/>
                </a:ext>
              </a:extLst>
            </p:cNvPr>
            <p:cNvSpPr/>
            <p:nvPr/>
          </p:nvSpPr>
          <p:spPr>
            <a:xfrm>
              <a:off x="1008481" y="4080800"/>
              <a:ext cx="1141474" cy="1141474"/>
            </a:xfrm>
            <a:prstGeom prst="ellipse">
              <a:avLst/>
            </a:prstGeom>
            <a:solidFill>
              <a:schemeClr val="bg2">
                <a:lumMod val="25000"/>
                <a:alpha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4" name="Oval 79">
              <a:extLst>
                <a:ext uri="{FF2B5EF4-FFF2-40B4-BE49-F238E27FC236}">
                  <a16:creationId xmlns:a16="http://schemas.microsoft.com/office/drawing/2014/main" xmlns="" id="{478A98E2-D62E-4202-2FB1-A886849536D1}"/>
                </a:ext>
              </a:extLst>
            </p:cNvPr>
            <p:cNvSpPr/>
            <p:nvPr/>
          </p:nvSpPr>
          <p:spPr>
            <a:xfrm>
              <a:off x="1108900" y="4181219"/>
              <a:ext cx="940635" cy="940635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xmlns="" id="{8D8CD3E1-9A95-C6D7-1C15-B1BED6138A0D}"/>
              </a:ext>
            </a:extLst>
          </p:cNvPr>
          <p:cNvSpPr txBox="1"/>
          <p:nvPr/>
        </p:nvSpPr>
        <p:spPr>
          <a:xfrm>
            <a:off x="1306056" y="1942431"/>
            <a:ext cx="32862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1</a:t>
            </a:r>
            <a:endParaRPr lang="pt-BR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37" name="Group 76">
            <a:extLst>
              <a:ext uri="{FF2B5EF4-FFF2-40B4-BE49-F238E27FC236}">
                <a16:creationId xmlns:a16="http://schemas.microsoft.com/office/drawing/2014/main" xmlns="" id="{ABE66687-E697-A978-3223-852D4E134A6E}"/>
              </a:ext>
            </a:extLst>
          </p:cNvPr>
          <p:cNvGrpSpPr/>
          <p:nvPr/>
        </p:nvGrpSpPr>
        <p:grpSpPr>
          <a:xfrm>
            <a:off x="1204530" y="2527534"/>
            <a:ext cx="504299" cy="469359"/>
            <a:chOff x="912987" y="3985306"/>
            <a:chExt cx="1332461" cy="1332461"/>
          </a:xfrm>
        </p:grpSpPr>
        <p:sp>
          <p:nvSpPr>
            <p:cNvPr id="38" name="Oval 77">
              <a:extLst>
                <a:ext uri="{FF2B5EF4-FFF2-40B4-BE49-F238E27FC236}">
                  <a16:creationId xmlns:a16="http://schemas.microsoft.com/office/drawing/2014/main" xmlns="" id="{3FA3E376-2B52-66A3-0C27-96A7212D8105}"/>
                </a:ext>
              </a:extLst>
            </p:cNvPr>
            <p:cNvSpPr/>
            <p:nvPr/>
          </p:nvSpPr>
          <p:spPr>
            <a:xfrm>
              <a:off x="912987" y="3985306"/>
              <a:ext cx="1332461" cy="1332461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9" name="Oval 78">
              <a:extLst>
                <a:ext uri="{FF2B5EF4-FFF2-40B4-BE49-F238E27FC236}">
                  <a16:creationId xmlns:a16="http://schemas.microsoft.com/office/drawing/2014/main" xmlns="" id="{A8DD54BC-7AD8-AE4A-CC7F-ADE10117F34F}"/>
                </a:ext>
              </a:extLst>
            </p:cNvPr>
            <p:cNvSpPr/>
            <p:nvPr/>
          </p:nvSpPr>
          <p:spPr>
            <a:xfrm>
              <a:off x="1008481" y="4080800"/>
              <a:ext cx="1141474" cy="1141474"/>
            </a:xfrm>
            <a:prstGeom prst="ellipse">
              <a:avLst/>
            </a:prstGeom>
            <a:solidFill>
              <a:schemeClr val="bg2">
                <a:lumMod val="25000"/>
                <a:alpha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40" name="Oval 79">
              <a:extLst>
                <a:ext uri="{FF2B5EF4-FFF2-40B4-BE49-F238E27FC236}">
                  <a16:creationId xmlns:a16="http://schemas.microsoft.com/office/drawing/2014/main" xmlns="" id="{478A98E2-D62E-4202-2FB1-A886849536D1}"/>
                </a:ext>
              </a:extLst>
            </p:cNvPr>
            <p:cNvSpPr/>
            <p:nvPr/>
          </p:nvSpPr>
          <p:spPr>
            <a:xfrm>
              <a:off x="1108900" y="4181219"/>
              <a:ext cx="940635" cy="940635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CaixaDeTexto 40">
            <a:extLst>
              <a:ext uri="{FF2B5EF4-FFF2-40B4-BE49-F238E27FC236}">
                <a16:creationId xmlns:a16="http://schemas.microsoft.com/office/drawing/2014/main" xmlns="" id="{8D8CD3E1-9A95-C6D7-1C15-B1BED6138A0D}"/>
              </a:ext>
            </a:extLst>
          </p:cNvPr>
          <p:cNvSpPr txBox="1"/>
          <p:nvPr/>
        </p:nvSpPr>
        <p:spPr>
          <a:xfrm>
            <a:off x="1281117" y="2554979"/>
            <a:ext cx="32862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1" dirty="0" smtClean="0">
                <a:solidFill>
                  <a:schemeClr val="bg1"/>
                </a:solidFill>
                <a:latin typeface="Montserrat" panose="00000500000000000000" pitchFamily="2" charset="0"/>
              </a:rPr>
              <a:t>2</a:t>
            </a:r>
            <a:endParaRPr lang="pt-BR" sz="24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42" name="Group 76">
            <a:extLst>
              <a:ext uri="{FF2B5EF4-FFF2-40B4-BE49-F238E27FC236}">
                <a16:creationId xmlns:a16="http://schemas.microsoft.com/office/drawing/2014/main" xmlns="" id="{ABE66687-E697-A978-3223-852D4E134A6E}"/>
              </a:ext>
            </a:extLst>
          </p:cNvPr>
          <p:cNvGrpSpPr/>
          <p:nvPr/>
        </p:nvGrpSpPr>
        <p:grpSpPr>
          <a:xfrm>
            <a:off x="1215780" y="3155343"/>
            <a:ext cx="504299" cy="469359"/>
            <a:chOff x="912987" y="3985306"/>
            <a:chExt cx="1332461" cy="1332461"/>
          </a:xfrm>
        </p:grpSpPr>
        <p:sp>
          <p:nvSpPr>
            <p:cNvPr id="43" name="Oval 77">
              <a:extLst>
                <a:ext uri="{FF2B5EF4-FFF2-40B4-BE49-F238E27FC236}">
                  <a16:creationId xmlns:a16="http://schemas.microsoft.com/office/drawing/2014/main" xmlns="" id="{3FA3E376-2B52-66A3-0C27-96A7212D8105}"/>
                </a:ext>
              </a:extLst>
            </p:cNvPr>
            <p:cNvSpPr/>
            <p:nvPr/>
          </p:nvSpPr>
          <p:spPr>
            <a:xfrm>
              <a:off x="912987" y="3985306"/>
              <a:ext cx="1332461" cy="1332461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44" name="Oval 78">
              <a:extLst>
                <a:ext uri="{FF2B5EF4-FFF2-40B4-BE49-F238E27FC236}">
                  <a16:creationId xmlns:a16="http://schemas.microsoft.com/office/drawing/2014/main" xmlns="" id="{A8DD54BC-7AD8-AE4A-CC7F-ADE10117F34F}"/>
                </a:ext>
              </a:extLst>
            </p:cNvPr>
            <p:cNvSpPr/>
            <p:nvPr/>
          </p:nvSpPr>
          <p:spPr>
            <a:xfrm>
              <a:off x="1008481" y="4080800"/>
              <a:ext cx="1141474" cy="1141474"/>
            </a:xfrm>
            <a:prstGeom prst="ellipse">
              <a:avLst/>
            </a:prstGeom>
            <a:solidFill>
              <a:schemeClr val="bg2">
                <a:lumMod val="25000"/>
                <a:alpha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45" name="Oval 79">
              <a:extLst>
                <a:ext uri="{FF2B5EF4-FFF2-40B4-BE49-F238E27FC236}">
                  <a16:creationId xmlns:a16="http://schemas.microsoft.com/office/drawing/2014/main" xmlns="" id="{478A98E2-D62E-4202-2FB1-A886849536D1}"/>
                </a:ext>
              </a:extLst>
            </p:cNvPr>
            <p:cNvSpPr/>
            <p:nvPr/>
          </p:nvSpPr>
          <p:spPr>
            <a:xfrm>
              <a:off x="1108900" y="4181219"/>
              <a:ext cx="940635" cy="940635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bg1"/>
                </a:solidFill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xmlns="" id="{8D8CD3E1-9A95-C6D7-1C15-B1BED6138A0D}"/>
              </a:ext>
            </a:extLst>
          </p:cNvPr>
          <p:cNvSpPr txBox="1"/>
          <p:nvPr/>
        </p:nvSpPr>
        <p:spPr>
          <a:xfrm>
            <a:off x="1292367" y="3199414"/>
            <a:ext cx="32862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3</a:t>
            </a:r>
            <a:endParaRPr lang="pt-BR" sz="24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47" name="Group 76">
            <a:extLst>
              <a:ext uri="{FF2B5EF4-FFF2-40B4-BE49-F238E27FC236}">
                <a16:creationId xmlns:a16="http://schemas.microsoft.com/office/drawing/2014/main" xmlns="" id="{ABE66687-E697-A978-3223-852D4E134A6E}"/>
              </a:ext>
            </a:extLst>
          </p:cNvPr>
          <p:cNvGrpSpPr/>
          <p:nvPr/>
        </p:nvGrpSpPr>
        <p:grpSpPr>
          <a:xfrm>
            <a:off x="1234186" y="3835455"/>
            <a:ext cx="504299" cy="469359"/>
            <a:chOff x="912987" y="3985306"/>
            <a:chExt cx="1332461" cy="1332461"/>
          </a:xfrm>
        </p:grpSpPr>
        <p:sp>
          <p:nvSpPr>
            <p:cNvPr id="48" name="Oval 77">
              <a:extLst>
                <a:ext uri="{FF2B5EF4-FFF2-40B4-BE49-F238E27FC236}">
                  <a16:creationId xmlns:a16="http://schemas.microsoft.com/office/drawing/2014/main" xmlns="" id="{3FA3E376-2B52-66A3-0C27-96A7212D8105}"/>
                </a:ext>
              </a:extLst>
            </p:cNvPr>
            <p:cNvSpPr/>
            <p:nvPr/>
          </p:nvSpPr>
          <p:spPr>
            <a:xfrm>
              <a:off x="912987" y="3985306"/>
              <a:ext cx="1332461" cy="1332461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49" name="Oval 78">
              <a:extLst>
                <a:ext uri="{FF2B5EF4-FFF2-40B4-BE49-F238E27FC236}">
                  <a16:creationId xmlns:a16="http://schemas.microsoft.com/office/drawing/2014/main" xmlns="" id="{A8DD54BC-7AD8-AE4A-CC7F-ADE10117F34F}"/>
                </a:ext>
              </a:extLst>
            </p:cNvPr>
            <p:cNvSpPr/>
            <p:nvPr/>
          </p:nvSpPr>
          <p:spPr>
            <a:xfrm>
              <a:off x="1008481" y="4080800"/>
              <a:ext cx="1141474" cy="1141474"/>
            </a:xfrm>
            <a:prstGeom prst="ellipse">
              <a:avLst/>
            </a:prstGeom>
            <a:solidFill>
              <a:schemeClr val="bg2">
                <a:lumMod val="25000"/>
                <a:alpha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50" name="Oval 79">
              <a:extLst>
                <a:ext uri="{FF2B5EF4-FFF2-40B4-BE49-F238E27FC236}">
                  <a16:creationId xmlns:a16="http://schemas.microsoft.com/office/drawing/2014/main" xmlns="" id="{478A98E2-D62E-4202-2FB1-A886849536D1}"/>
                </a:ext>
              </a:extLst>
            </p:cNvPr>
            <p:cNvSpPr/>
            <p:nvPr/>
          </p:nvSpPr>
          <p:spPr>
            <a:xfrm>
              <a:off x="1108900" y="4181219"/>
              <a:ext cx="940635" cy="940635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bg1"/>
                </a:solidFill>
              </a:endParaRPr>
            </a:p>
          </p:txBody>
        </p:sp>
      </p:grpSp>
      <p:sp>
        <p:nvSpPr>
          <p:cNvPr id="51" name="CaixaDeTexto 50">
            <a:extLst>
              <a:ext uri="{FF2B5EF4-FFF2-40B4-BE49-F238E27FC236}">
                <a16:creationId xmlns:a16="http://schemas.microsoft.com/office/drawing/2014/main" xmlns="" id="{8D8CD3E1-9A95-C6D7-1C15-B1BED6138A0D}"/>
              </a:ext>
            </a:extLst>
          </p:cNvPr>
          <p:cNvSpPr txBox="1"/>
          <p:nvPr/>
        </p:nvSpPr>
        <p:spPr>
          <a:xfrm>
            <a:off x="1269208" y="3862900"/>
            <a:ext cx="32862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4</a:t>
            </a:r>
            <a:endParaRPr lang="pt-BR" sz="24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52" name="Group 76">
            <a:extLst>
              <a:ext uri="{FF2B5EF4-FFF2-40B4-BE49-F238E27FC236}">
                <a16:creationId xmlns:a16="http://schemas.microsoft.com/office/drawing/2014/main" xmlns="" id="{ABE66687-E697-A978-3223-852D4E134A6E}"/>
              </a:ext>
            </a:extLst>
          </p:cNvPr>
          <p:cNvGrpSpPr/>
          <p:nvPr/>
        </p:nvGrpSpPr>
        <p:grpSpPr>
          <a:xfrm>
            <a:off x="1246095" y="4502891"/>
            <a:ext cx="504299" cy="469359"/>
            <a:chOff x="912987" y="3985306"/>
            <a:chExt cx="1332461" cy="1332461"/>
          </a:xfrm>
        </p:grpSpPr>
        <p:sp>
          <p:nvSpPr>
            <p:cNvPr id="53" name="Oval 77">
              <a:extLst>
                <a:ext uri="{FF2B5EF4-FFF2-40B4-BE49-F238E27FC236}">
                  <a16:creationId xmlns:a16="http://schemas.microsoft.com/office/drawing/2014/main" xmlns="" id="{3FA3E376-2B52-66A3-0C27-96A7212D8105}"/>
                </a:ext>
              </a:extLst>
            </p:cNvPr>
            <p:cNvSpPr/>
            <p:nvPr/>
          </p:nvSpPr>
          <p:spPr>
            <a:xfrm>
              <a:off x="912987" y="3985306"/>
              <a:ext cx="1332461" cy="1332461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54" name="Oval 78">
              <a:extLst>
                <a:ext uri="{FF2B5EF4-FFF2-40B4-BE49-F238E27FC236}">
                  <a16:creationId xmlns:a16="http://schemas.microsoft.com/office/drawing/2014/main" xmlns="" id="{A8DD54BC-7AD8-AE4A-CC7F-ADE10117F34F}"/>
                </a:ext>
              </a:extLst>
            </p:cNvPr>
            <p:cNvSpPr/>
            <p:nvPr/>
          </p:nvSpPr>
          <p:spPr>
            <a:xfrm>
              <a:off x="1008481" y="4080800"/>
              <a:ext cx="1141474" cy="1141474"/>
            </a:xfrm>
            <a:prstGeom prst="ellipse">
              <a:avLst/>
            </a:prstGeom>
            <a:solidFill>
              <a:schemeClr val="bg2">
                <a:lumMod val="25000"/>
                <a:alpha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55" name="Oval 79">
              <a:extLst>
                <a:ext uri="{FF2B5EF4-FFF2-40B4-BE49-F238E27FC236}">
                  <a16:creationId xmlns:a16="http://schemas.microsoft.com/office/drawing/2014/main" xmlns="" id="{478A98E2-D62E-4202-2FB1-A886849536D1}"/>
                </a:ext>
              </a:extLst>
            </p:cNvPr>
            <p:cNvSpPr/>
            <p:nvPr/>
          </p:nvSpPr>
          <p:spPr>
            <a:xfrm>
              <a:off x="1108900" y="4181219"/>
              <a:ext cx="940635" cy="940635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bg1"/>
                </a:solidFill>
              </a:endParaRPr>
            </a:p>
          </p:txBody>
        </p:sp>
      </p:grpSp>
      <p:sp>
        <p:nvSpPr>
          <p:cNvPr id="56" name="CaixaDeTexto 55">
            <a:extLst>
              <a:ext uri="{FF2B5EF4-FFF2-40B4-BE49-F238E27FC236}">
                <a16:creationId xmlns:a16="http://schemas.microsoft.com/office/drawing/2014/main" xmlns="" id="{8D8CD3E1-9A95-C6D7-1C15-B1BED6138A0D}"/>
              </a:ext>
            </a:extLst>
          </p:cNvPr>
          <p:cNvSpPr txBox="1"/>
          <p:nvPr/>
        </p:nvSpPr>
        <p:spPr>
          <a:xfrm>
            <a:off x="1322682" y="4538649"/>
            <a:ext cx="32862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1" dirty="0" smtClean="0">
                <a:solidFill>
                  <a:schemeClr val="bg1"/>
                </a:solidFill>
                <a:latin typeface="Montserrat" panose="00000500000000000000" pitchFamily="2" charset="0"/>
              </a:rPr>
              <a:t>5</a:t>
            </a:r>
            <a:endParaRPr lang="pt-BR" sz="24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57" name="Group 76">
            <a:extLst>
              <a:ext uri="{FF2B5EF4-FFF2-40B4-BE49-F238E27FC236}">
                <a16:creationId xmlns:a16="http://schemas.microsoft.com/office/drawing/2014/main" xmlns="" id="{ABE66687-E697-A978-3223-852D4E134A6E}"/>
              </a:ext>
            </a:extLst>
          </p:cNvPr>
          <p:cNvGrpSpPr/>
          <p:nvPr/>
        </p:nvGrpSpPr>
        <p:grpSpPr>
          <a:xfrm>
            <a:off x="1247220" y="5166060"/>
            <a:ext cx="504299" cy="469359"/>
            <a:chOff x="912987" y="3985306"/>
            <a:chExt cx="1332461" cy="1332461"/>
          </a:xfrm>
        </p:grpSpPr>
        <p:sp>
          <p:nvSpPr>
            <p:cNvPr id="58" name="Oval 77">
              <a:extLst>
                <a:ext uri="{FF2B5EF4-FFF2-40B4-BE49-F238E27FC236}">
                  <a16:creationId xmlns:a16="http://schemas.microsoft.com/office/drawing/2014/main" xmlns="" id="{3FA3E376-2B52-66A3-0C27-96A7212D8105}"/>
                </a:ext>
              </a:extLst>
            </p:cNvPr>
            <p:cNvSpPr/>
            <p:nvPr/>
          </p:nvSpPr>
          <p:spPr>
            <a:xfrm>
              <a:off x="912987" y="3985306"/>
              <a:ext cx="1332461" cy="1332461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59" name="Oval 78">
              <a:extLst>
                <a:ext uri="{FF2B5EF4-FFF2-40B4-BE49-F238E27FC236}">
                  <a16:creationId xmlns:a16="http://schemas.microsoft.com/office/drawing/2014/main" xmlns="" id="{A8DD54BC-7AD8-AE4A-CC7F-ADE10117F34F}"/>
                </a:ext>
              </a:extLst>
            </p:cNvPr>
            <p:cNvSpPr/>
            <p:nvPr/>
          </p:nvSpPr>
          <p:spPr>
            <a:xfrm>
              <a:off x="1008481" y="4080800"/>
              <a:ext cx="1141474" cy="1141474"/>
            </a:xfrm>
            <a:prstGeom prst="ellipse">
              <a:avLst/>
            </a:prstGeom>
            <a:solidFill>
              <a:schemeClr val="bg2">
                <a:lumMod val="25000"/>
                <a:alpha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60" name="Oval 79">
              <a:extLst>
                <a:ext uri="{FF2B5EF4-FFF2-40B4-BE49-F238E27FC236}">
                  <a16:creationId xmlns:a16="http://schemas.microsoft.com/office/drawing/2014/main" xmlns="" id="{478A98E2-D62E-4202-2FB1-A886849536D1}"/>
                </a:ext>
              </a:extLst>
            </p:cNvPr>
            <p:cNvSpPr/>
            <p:nvPr/>
          </p:nvSpPr>
          <p:spPr>
            <a:xfrm>
              <a:off x="1108900" y="4181219"/>
              <a:ext cx="940635" cy="940635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bg1"/>
                </a:solidFill>
              </a:endParaRPr>
            </a:p>
          </p:txBody>
        </p:sp>
      </p:grpSp>
      <p:sp>
        <p:nvSpPr>
          <p:cNvPr id="61" name="CaixaDeTexto 60">
            <a:extLst>
              <a:ext uri="{FF2B5EF4-FFF2-40B4-BE49-F238E27FC236}">
                <a16:creationId xmlns:a16="http://schemas.microsoft.com/office/drawing/2014/main" xmlns="" id="{8D8CD3E1-9A95-C6D7-1C15-B1BED6138A0D}"/>
              </a:ext>
            </a:extLst>
          </p:cNvPr>
          <p:cNvSpPr txBox="1"/>
          <p:nvPr/>
        </p:nvSpPr>
        <p:spPr>
          <a:xfrm>
            <a:off x="1307181" y="5201818"/>
            <a:ext cx="32862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6</a:t>
            </a:r>
            <a:endParaRPr lang="pt-BR" sz="24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62" name="Group 76">
            <a:extLst>
              <a:ext uri="{FF2B5EF4-FFF2-40B4-BE49-F238E27FC236}">
                <a16:creationId xmlns:a16="http://schemas.microsoft.com/office/drawing/2014/main" xmlns="" id="{ABE66687-E697-A978-3223-852D4E134A6E}"/>
              </a:ext>
            </a:extLst>
          </p:cNvPr>
          <p:cNvGrpSpPr/>
          <p:nvPr/>
        </p:nvGrpSpPr>
        <p:grpSpPr>
          <a:xfrm>
            <a:off x="1247220" y="5834726"/>
            <a:ext cx="504299" cy="469359"/>
            <a:chOff x="912987" y="3985306"/>
            <a:chExt cx="1332461" cy="1332461"/>
          </a:xfrm>
        </p:grpSpPr>
        <p:sp>
          <p:nvSpPr>
            <p:cNvPr id="63" name="Oval 77">
              <a:extLst>
                <a:ext uri="{FF2B5EF4-FFF2-40B4-BE49-F238E27FC236}">
                  <a16:creationId xmlns:a16="http://schemas.microsoft.com/office/drawing/2014/main" xmlns="" id="{3FA3E376-2B52-66A3-0C27-96A7212D8105}"/>
                </a:ext>
              </a:extLst>
            </p:cNvPr>
            <p:cNvSpPr/>
            <p:nvPr/>
          </p:nvSpPr>
          <p:spPr>
            <a:xfrm>
              <a:off x="912987" y="3985306"/>
              <a:ext cx="1332461" cy="1332461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64" name="Oval 78">
              <a:extLst>
                <a:ext uri="{FF2B5EF4-FFF2-40B4-BE49-F238E27FC236}">
                  <a16:creationId xmlns:a16="http://schemas.microsoft.com/office/drawing/2014/main" xmlns="" id="{A8DD54BC-7AD8-AE4A-CC7F-ADE10117F34F}"/>
                </a:ext>
              </a:extLst>
            </p:cNvPr>
            <p:cNvSpPr/>
            <p:nvPr/>
          </p:nvSpPr>
          <p:spPr>
            <a:xfrm>
              <a:off x="1008481" y="4080800"/>
              <a:ext cx="1141474" cy="1141474"/>
            </a:xfrm>
            <a:prstGeom prst="ellipse">
              <a:avLst/>
            </a:prstGeom>
            <a:solidFill>
              <a:schemeClr val="bg2">
                <a:lumMod val="25000"/>
                <a:alpha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65" name="Oval 79">
              <a:extLst>
                <a:ext uri="{FF2B5EF4-FFF2-40B4-BE49-F238E27FC236}">
                  <a16:creationId xmlns:a16="http://schemas.microsoft.com/office/drawing/2014/main" xmlns="" id="{478A98E2-D62E-4202-2FB1-A886849536D1}"/>
                </a:ext>
              </a:extLst>
            </p:cNvPr>
            <p:cNvSpPr/>
            <p:nvPr/>
          </p:nvSpPr>
          <p:spPr>
            <a:xfrm>
              <a:off x="1108900" y="4181219"/>
              <a:ext cx="940635" cy="940635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bg1"/>
                </a:solidFill>
              </a:endParaRPr>
            </a:p>
          </p:txBody>
        </p:sp>
      </p:grpSp>
      <p:sp>
        <p:nvSpPr>
          <p:cNvPr id="66" name="CaixaDeTexto 65">
            <a:extLst>
              <a:ext uri="{FF2B5EF4-FFF2-40B4-BE49-F238E27FC236}">
                <a16:creationId xmlns:a16="http://schemas.microsoft.com/office/drawing/2014/main" xmlns="" id="{8D8CD3E1-9A95-C6D7-1C15-B1BED6138A0D}"/>
              </a:ext>
            </a:extLst>
          </p:cNvPr>
          <p:cNvSpPr txBox="1"/>
          <p:nvPr/>
        </p:nvSpPr>
        <p:spPr>
          <a:xfrm>
            <a:off x="1307181" y="5870484"/>
            <a:ext cx="32862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1" dirty="0" smtClean="0">
                <a:solidFill>
                  <a:schemeClr val="bg1"/>
                </a:solidFill>
                <a:latin typeface="Montserrat" panose="00000500000000000000" pitchFamily="2" charset="0"/>
              </a:rPr>
              <a:t>7</a:t>
            </a:r>
            <a:endParaRPr lang="pt-BR" sz="24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7" name="Rectangle 62">
            <a:extLst>
              <a:ext uri="{FF2B5EF4-FFF2-40B4-BE49-F238E27FC236}">
                <a16:creationId xmlns:a16="http://schemas.microsoft.com/office/drawing/2014/main" xmlns="" id="{D550853B-3B8A-3473-4D30-B3BE5889595C}"/>
              </a:ext>
            </a:extLst>
          </p:cNvPr>
          <p:cNvSpPr/>
          <p:nvPr/>
        </p:nvSpPr>
        <p:spPr>
          <a:xfrm>
            <a:off x="1637463" y="2559141"/>
            <a:ext cx="29012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 err="1">
                <a:latin typeface="Montserrat" panose="00000500000000000000" pitchFamily="2" charset="0"/>
              </a:rPr>
              <a:t>Sincronização</a:t>
            </a:r>
            <a:r>
              <a:rPr lang="en-GB" sz="1200" b="1" dirty="0">
                <a:latin typeface="Montserrat" panose="00000500000000000000" pitchFamily="2" charset="0"/>
              </a:rPr>
              <a:t> </a:t>
            </a:r>
            <a:r>
              <a:rPr lang="en-GB" sz="1200" b="1" dirty="0" err="1">
                <a:latin typeface="Montserrat" panose="00000500000000000000" pitchFamily="2" charset="0"/>
              </a:rPr>
              <a:t>automática</a:t>
            </a:r>
            <a:endParaRPr lang="pt-BR" sz="1200" dirty="0">
              <a:latin typeface="Montserrat" panose="00000500000000000000" pitchFamily="2" charset="0"/>
            </a:endParaRPr>
          </a:p>
        </p:txBody>
      </p:sp>
      <p:sp>
        <p:nvSpPr>
          <p:cNvPr id="68" name="Rectangle 63">
            <a:extLst>
              <a:ext uri="{FF2B5EF4-FFF2-40B4-BE49-F238E27FC236}">
                <a16:creationId xmlns:a16="http://schemas.microsoft.com/office/drawing/2014/main" xmlns="" id="{F533F7E4-76D3-FCF5-0D72-58F3DE889531}"/>
              </a:ext>
            </a:extLst>
          </p:cNvPr>
          <p:cNvSpPr/>
          <p:nvPr/>
        </p:nvSpPr>
        <p:spPr>
          <a:xfrm>
            <a:off x="1648092" y="2729765"/>
            <a:ext cx="40307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err="1">
                <a:latin typeface="Montserrat" panose="00000500000000000000" pitchFamily="2" charset="0"/>
              </a:rPr>
              <a:t>Os</a:t>
            </a:r>
            <a:r>
              <a:rPr lang="en-GB" sz="1200" dirty="0">
                <a:latin typeface="Montserrat" panose="00000500000000000000" pitchFamily="2" charset="0"/>
              </a:rPr>
              <a:t> dados </a:t>
            </a:r>
            <a:r>
              <a:rPr lang="en-GB" sz="1200" dirty="0" err="1">
                <a:latin typeface="Montserrat" panose="00000500000000000000" pitchFamily="2" charset="0"/>
              </a:rPr>
              <a:t>são</a:t>
            </a:r>
            <a:r>
              <a:rPr lang="en-GB" sz="1200" dirty="0">
                <a:latin typeface="Montserrat" panose="00000500000000000000" pitchFamily="2" charset="0"/>
              </a:rPr>
              <a:t> </a:t>
            </a:r>
            <a:r>
              <a:rPr lang="en-GB" sz="1200" dirty="0" err="1">
                <a:latin typeface="Montserrat" panose="00000500000000000000" pitchFamily="2" charset="0"/>
              </a:rPr>
              <a:t>enviados</a:t>
            </a:r>
            <a:r>
              <a:rPr lang="en-GB" sz="1200" dirty="0">
                <a:latin typeface="Montserrat" panose="00000500000000000000" pitchFamily="2" charset="0"/>
              </a:rPr>
              <a:t> </a:t>
            </a:r>
            <a:r>
              <a:rPr lang="en-GB" sz="1200" dirty="0" err="1">
                <a:latin typeface="Montserrat" panose="00000500000000000000" pitchFamily="2" charset="0"/>
              </a:rPr>
              <a:t>quando</a:t>
            </a:r>
            <a:r>
              <a:rPr lang="en-GB" sz="1200" dirty="0">
                <a:latin typeface="Montserrat" panose="00000500000000000000" pitchFamily="2" charset="0"/>
              </a:rPr>
              <a:t> a </a:t>
            </a:r>
            <a:r>
              <a:rPr lang="en-GB" sz="1200" dirty="0" err="1">
                <a:latin typeface="Montserrat" panose="00000500000000000000" pitchFamily="2" charset="0"/>
              </a:rPr>
              <a:t>conectividade</a:t>
            </a:r>
            <a:r>
              <a:rPr lang="en-GB" sz="1200" dirty="0">
                <a:latin typeface="Montserrat" panose="00000500000000000000" pitchFamily="2" charset="0"/>
              </a:rPr>
              <a:t> </a:t>
            </a:r>
            <a:r>
              <a:rPr lang="en-GB" sz="1200" dirty="0" err="1">
                <a:latin typeface="Montserrat" panose="00000500000000000000" pitchFamily="2" charset="0"/>
              </a:rPr>
              <a:t>estiver</a:t>
            </a:r>
            <a:r>
              <a:rPr lang="en-GB" sz="1200" dirty="0">
                <a:latin typeface="Montserrat" panose="00000500000000000000" pitchFamily="2" charset="0"/>
              </a:rPr>
              <a:t> </a:t>
            </a:r>
            <a:r>
              <a:rPr lang="en-GB" sz="1200" dirty="0" err="1">
                <a:latin typeface="Montserrat" panose="00000500000000000000" pitchFamily="2" charset="0"/>
              </a:rPr>
              <a:t>disponível</a:t>
            </a:r>
            <a:r>
              <a:rPr lang="en-GB" sz="1200" dirty="0">
                <a:latin typeface="Montserrat" panose="00000500000000000000" pitchFamily="2" charset="0"/>
              </a:rPr>
              <a:t>.</a:t>
            </a:r>
            <a:endParaRPr lang="pt-BR" sz="1200" dirty="0">
              <a:latin typeface="Montserrat" panose="00000500000000000000" pitchFamily="2" charset="0"/>
            </a:endParaRPr>
          </a:p>
        </p:txBody>
      </p:sp>
      <p:sp>
        <p:nvSpPr>
          <p:cNvPr id="71" name="Rectangle 62">
            <a:extLst>
              <a:ext uri="{FF2B5EF4-FFF2-40B4-BE49-F238E27FC236}">
                <a16:creationId xmlns:a16="http://schemas.microsoft.com/office/drawing/2014/main" xmlns="" id="{D550853B-3B8A-3473-4D30-B3BE5889595C}"/>
              </a:ext>
            </a:extLst>
          </p:cNvPr>
          <p:cNvSpPr/>
          <p:nvPr/>
        </p:nvSpPr>
        <p:spPr>
          <a:xfrm>
            <a:off x="1664338" y="3185804"/>
            <a:ext cx="29012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 err="1">
                <a:latin typeface="Montserrat" panose="00000500000000000000" pitchFamily="2" charset="0"/>
              </a:rPr>
              <a:t>Mobilidade</a:t>
            </a:r>
            <a:endParaRPr lang="pt-BR" sz="1200" dirty="0">
              <a:latin typeface="Montserrat" panose="00000500000000000000" pitchFamily="2" charset="0"/>
            </a:endParaRPr>
          </a:p>
        </p:txBody>
      </p:sp>
      <p:sp>
        <p:nvSpPr>
          <p:cNvPr id="72" name="Rectangle 63">
            <a:extLst>
              <a:ext uri="{FF2B5EF4-FFF2-40B4-BE49-F238E27FC236}">
                <a16:creationId xmlns:a16="http://schemas.microsoft.com/office/drawing/2014/main" xmlns="" id="{F533F7E4-76D3-FCF5-0D72-58F3DE889531}"/>
              </a:ext>
            </a:extLst>
          </p:cNvPr>
          <p:cNvSpPr/>
          <p:nvPr/>
        </p:nvSpPr>
        <p:spPr>
          <a:xfrm>
            <a:off x="1674967" y="3356428"/>
            <a:ext cx="4030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err="1">
                <a:latin typeface="Montserrat" panose="00000500000000000000" pitchFamily="2" charset="0"/>
              </a:rPr>
              <a:t>Utilização</a:t>
            </a:r>
            <a:r>
              <a:rPr lang="en-GB" sz="1200" dirty="0">
                <a:latin typeface="Montserrat" panose="00000500000000000000" pitchFamily="2" charset="0"/>
              </a:rPr>
              <a:t> </a:t>
            </a:r>
            <a:r>
              <a:rPr lang="en-GB" sz="1200" dirty="0" err="1">
                <a:latin typeface="Montserrat" panose="00000500000000000000" pitchFamily="2" charset="0"/>
              </a:rPr>
              <a:t>através</a:t>
            </a:r>
            <a:r>
              <a:rPr lang="en-GB" sz="1200" dirty="0">
                <a:latin typeface="Montserrat" panose="00000500000000000000" pitchFamily="2" charset="0"/>
              </a:rPr>
              <a:t> de tablets.</a:t>
            </a:r>
            <a:endParaRPr lang="pt-BR" sz="1200" dirty="0">
              <a:latin typeface="Montserrat" panose="00000500000000000000" pitchFamily="2" charset="0"/>
            </a:endParaRPr>
          </a:p>
        </p:txBody>
      </p:sp>
      <p:sp>
        <p:nvSpPr>
          <p:cNvPr id="73" name="Rectangle 62">
            <a:extLst>
              <a:ext uri="{FF2B5EF4-FFF2-40B4-BE49-F238E27FC236}">
                <a16:creationId xmlns:a16="http://schemas.microsoft.com/office/drawing/2014/main" xmlns="" id="{D550853B-3B8A-3473-4D30-B3BE5889595C}"/>
              </a:ext>
            </a:extLst>
          </p:cNvPr>
          <p:cNvSpPr/>
          <p:nvPr/>
        </p:nvSpPr>
        <p:spPr>
          <a:xfrm>
            <a:off x="1676272" y="3877976"/>
            <a:ext cx="29012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 err="1">
                <a:latin typeface="Montserrat" panose="00000500000000000000" pitchFamily="2" charset="0"/>
              </a:rPr>
              <a:t>Redução</a:t>
            </a:r>
            <a:r>
              <a:rPr lang="en-GB" sz="1200" b="1" dirty="0">
                <a:latin typeface="Montserrat" panose="00000500000000000000" pitchFamily="2" charset="0"/>
              </a:rPr>
              <a:t> de </a:t>
            </a:r>
            <a:r>
              <a:rPr lang="en-GB" sz="1200" b="1" dirty="0" err="1">
                <a:latin typeface="Montserrat" panose="00000500000000000000" pitchFamily="2" charset="0"/>
              </a:rPr>
              <a:t>papel</a:t>
            </a:r>
            <a:endParaRPr lang="pt-BR" sz="1200" dirty="0">
              <a:latin typeface="Montserrat" panose="00000500000000000000" pitchFamily="2" charset="0"/>
            </a:endParaRPr>
          </a:p>
        </p:txBody>
      </p:sp>
      <p:sp>
        <p:nvSpPr>
          <p:cNvPr id="74" name="Rectangle 63">
            <a:extLst>
              <a:ext uri="{FF2B5EF4-FFF2-40B4-BE49-F238E27FC236}">
                <a16:creationId xmlns:a16="http://schemas.microsoft.com/office/drawing/2014/main" xmlns="" id="{F533F7E4-76D3-FCF5-0D72-58F3DE889531}"/>
              </a:ext>
            </a:extLst>
          </p:cNvPr>
          <p:cNvSpPr/>
          <p:nvPr/>
        </p:nvSpPr>
        <p:spPr>
          <a:xfrm>
            <a:off x="1686901" y="4048600"/>
            <a:ext cx="4030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err="1">
                <a:latin typeface="Montserrat" panose="00000500000000000000" pitchFamily="2" charset="0"/>
              </a:rPr>
              <a:t>Digitalização</a:t>
            </a:r>
            <a:r>
              <a:rPr lang="en-GB" sz="1200" dirty="0">
                <a:latin typeface="Montserrat" panose="00000500000000000000" pitchFamily="2" charset="0"/>
              </a:rPr>
              <a:t> dos </a:t>
            </a:r>
            <a:r>
              <a:rPr lang="en-GB" sz="1200" dirty="0" err="1">
                <a:latin typeface="Montserrat" panose="00000500000000000000" pitchFamily="2" charset="0"/>
              </a:rPr>
              <a:t>processos</a:t>
            </a:r>
            <a:r>
              <a:rPr lang="en-GB" sz="1200" dirty="0">
                <a:latin typeface="Montserrat" panose="00000500000000000000" pitchFamily="2" charset="0"/>
              </a:rPr>
              <a:t>.</a:t>
            </a:r>
            <a:endParaRPr lang="pt-BR" sz="1200" dirty="0">
              <a:latin typeface="Montserrat" panose="00000500000000000000" pitchFamily="2" charset="0"/>
            </a:endParaRPr>
          </a:p>
        </p:txBody>
      </p:sp>
      <p:sp>
        <p:nvSpPr>
          <p:cNvPr id="75" name="Rectangle 62">
            <a:extLst>
              <a:ext uri="{FF2B5EF4-FFF2-40B4-BE49-F238E27FC236}">
                <a16:creationId xmlns:a16="http://schemas.microsoft.com/office/drawing/2014/main" xmlns="" id="{D550853B-3B8A-3473-4D30-B3BE5889595C}"/>
              </a:ext>
            </a:extLst>
          </p:cNvPr>
          <p:cNvSpPr/>
          <p:nvPr/>
        </p:nvSpPr>
        <p:spPr>
          <a:xfrm>
            <a:off x="1672449" y="4537456"/>
            <a:ext cx="29012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 err="1">
                <a:latin typeface="Montserrat" panose="00000500000000000000" pitchFamily="2" charset="0"/>
              </a:rPr>
              <a:t>Estatística</a:t>
            </a:r>
            <a:r>
              <a:rPr lang="en-GB" sz="1200" b="1" dirty="0">
                <a:latin typeface="Montserrat" panose="00000500000000000000" pitchFamily="2" charset="0"/>
              </a:rPr>
              <a:t> </a:t>
            </a:r>
            <a:r>
              <a:rPr lang="en-GB" sz="1200" b="1" dirty="0" err="1">
                <a:latin typeface="Montserrat" panose="00000500000000000000" pitchFamily="2" charset="0"/>
              </a:rPr>
              <a:t>integrada</a:t>
            </a:r>
            <a:endParaRPr lang="pt-BR" sz="1200" dirty="0">
              <a:latin typeface="Montserrat" panose="00000500000000000000" pitchFamily="2" charset="0"/>
            </a:endParaRPr>
          </a:p>
        </p:txBody>
      </p:sp>
      <p:sp>
        <p:nvSpPr>
          <p:cNvPr id="76" name="Rectangle 63">
            <a:extLst>
              <a:ext uri="{FF2B5EF4-FFF2-40B4-BE49-F238E27FC236}">
                <a16:creationId xmlns:a16="http://schemas.microsoft.com/office/drawing/2014/main" xmlns="" id="{F533F7E4-76D3-FCF5-0D72-58F3DE889531}"/>
              </a:ext>
            </a:extLst>
          </p:cNvPr>
          <p:cNvSpPr/>
          <p:nvPr/>
        </p:nvSpPr>
        <p:spPr>
          <a:xfrm>
            <a:off x="1683078" y="4708080"/>
            <a:ext cx="40307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err="1">
                <a:latin typeface="Montserrat" panose="00000500000000000000" pitchFamily="2" charset="0"/>
              </a:rPr>
              <a:t>Os</a:t>
            </a:r>
            <a:r>
              <a:rPr lang="en-GB" sz="1200" dirty="0">
                <a:latin typeface="Montserrat" panose="00000500000000000000" pitchFamily="2" charset="0"/>
              </a:rPr>
              <a:t> dados </a:t>
            </a:r>
            <a:r>
              <a:rPr lang="en-GB" sz="1200" dirty="0" err="1">
                <a:latin typeface="Montserrat" panose="00000500000000000000" pitchFamily="2" charset="0"/>
              </a:rPr>
              <a:t>operacionais</a:t>
            </a:r>
            <a:r>
              <a:rPr lang="en-GB" sz="1200" dirty="0">
                <a:latin typeface="Montserrat" panose="00000500000000000000" pitchFamily="2" charset="0"/>
              </a:rPr>
              <a:t> </a:t>
            </a:r>
            <a:r>
              <a:rPr lang="en-GB" sz="1200" dirty="0" err="1">
                <a:latin typeface="Montserrat" panose="00000500000000000000" pitchFamily="2" charset="0"/>
              </a:rPr>
              <a:t>transformam</a:t>
            </a:r>
            <a:r>
              <a:rPr lang="en-GB" sz="1200" dirty="0">
                <a:latin typeface="Montserrat" panose="00000500000000000000" pitchFamily="2" charset="0"/>
              </a:rPr>
              <a:t>-se </a:t>
            </a:r>
            <a:r>
              <a:rPr lang="en-GB" sz="1200" dirty="0" err="1">
                <a:latin typeface="Montserrat" panose="00000500000000000000" pitchFamily="2" charset="0"/>
              </a:rPr>
              <a:t>automaticamente</a:t>
            </a:r>
            <a:r>
              <a:rPr lang="en-GB" sz="1200" dirty="0">
                <a:latin typeface="Montserrat" panose="00000500000000000000" pitchFamily="2" charset="0"/>
              </a:rPr>
              <a:t> </a:t>
            </a:r>
            <a:r>
              <a:rPr lang="en-GB" sz="1200" dirty="0" err="1">
                <a:latin typeface="Montserrat" panose="00000500000000000000" pitchFamily="2" charset="0"/>
              </a:rPr>
              <a:t>em</a:t>
            </a:r>
            <a:r>
              <a:rPr lang="en-GB" sz="1200" dirty="0">
                <a:latin typeface="Montserrat" panose="00000500000000000000" pitchFamily="2" charset="0"/>
              </a:rPr>
              <a:t> </a:t>
            </a:r>
            <a:r>
              <a:rPr lang="en-GB" sz="1200" dirty="0" err="1">
                <a:latin typeface="Montserrat" panose="00000500000000000000" pitchFamily="2" charset="0"/>
              </a:rPr>
              <a:t>indicadores</a:t>
            </a:r>
            <a:r>
              <a:rPr lang="en-GB" sz="1200" dirty="0">
                <a:latin typeface="Montserrat" panose="00000500000000000000" pitchFamily="2" charset="0"/>
              </a:rPr>
              <a:t>.</a:t>
            </a:r>
            <a:endParaRPr lang="pt-BR" sz="1200" dirty="0">
              <a:latin typeface="Montserrat" panose="00000500000000000000" pitchFamily="2" charset="0"/>
            </a:endParaRPr>
          </a:p>
        </p:txBody>
      </p:sp>
      <p:sp>
        <p:nvSpPr>
          <p:cNvPr id="77" name="Rectangle 62">
            <a:extLst>
              <a:ext uri="{FF2B5EF4-FFF2-40B4-BE49-F238E27FC236}">
                <a16:creationId xmlns:a16="http://schemas.microsoft.com/office/drawing/2014/main" xmlns="" id="{D550853B-3B8A-3473-4D30-B3BE5889595C}"/>
              </a:ext>
            </a:extLst>
          </p:cNvPr>
          <p:cNvSpPr/>
          <p:nvPr/>
        </p:nvSpPr>
        <p:spPr>
          <a:xfrm>
            <a:off x="1715775" y="5189963"/>
            <a:ext cx="29012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 err="1">
                <a:latin typeface="Montserrat" panose="00000500000000000000" pitchFamily="2" charset="0"/>
              </a:rPr>
              <a:t>Escalabilidade</a:t>
            </a:r>
            <a:endParaRPr lang="pt-BR" sz="1200" dirty="0">
              <a:latin typeface="Montserrat" panose="00000500000000000000" pitchFamily="2" charset="0"/>
            </a:endParaRPr>
          </a:p>
        </p:txBody>
      </p:sp>
      <p:sp>
        <p:nvSpPr>
          <p:cNvPr id="78" name="Rectangle 63">
            <a:extLst>
              <a:ext uri="{FF2B5EF4-FFF2-40B4-BE49-F238E27FC236}">
                <a16:creationId xmlns:a16="http://schemas.microsoft.com/office/drawing/2014/main" xmlns="" id="{F533F7E4-76D3-FCF5-0D72-58F3DE889531}"/>
              </a:ext>
            </a:extLst>
          </p:cNvPr>
          <p:cNvSpPr/>
          <p:nvPr/>
        </p:nvSpPr>
        <p:spPr>
          <a:xfrm>
            <a:off x="1726404" y="5360587"/>
            <a:ext cx="40307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err="1">
                <a:latin typeface="Montserrat" panose="00000500000000000000" pitchFamily="2" charset="0"/>
              </a:rPr>
              <a:t>Possibilidade</a:t>
            </a:r>
            <a:r>
              <a:rPr lang="en-GB" sz="1200" dirty="0">
                <a:latin typeface="Montserrat" panose="00000500000000000000" pitchFamily="2" charset="0"/>
              </a:rPr>
              <a:t> de </a:t>
            </a:r>
            <a:r>
              <a:rPr lang="en-GB" sz="1200" dirty="0" err="1">
                <a:latin typeface="Montserrat" panose="00000500000000000000" pitchFamily="2" charset="0"/>
              </a:rPr>
              <a:t>expansão</a:t>
            </a:r>
            <a:r>
              <a:rPr lang="en-GB" sz="1200" dirty="0">
                <a:latin typeface="Montserrat" panose="00000500000000000000" pitchFamily="2" charset="0"/>
              </a:rPr>
              <a:t> do hospital para </a:t>
            </a:r>
            <a:r>
              <a:rPr lang="en-GB" sz="1200" dirty="0" err="1">
                <a:latin typeface="Montserrat" panose="00000500000000000000" pitchFamily="2" charset="0"/>
              </a:rPr>
              <a:t>níveis</a:t>
            </a:r>
            <a:r>
              <a:rPr lang="en-GB" sz="1200" dirty="0">
                <a:latin typeface="Montserrat" panose="00000500000000000000" pitchFamily="2" charset="0"/>
              </a:rPr>
              <a:t> municipal, provincial e </a:t>
            </a:r>
            <a:r>
              <a:rPr lang="en-GB" sz="1200" dirty="0" err="1">
                <a:latin typeface="Montserrat" panose="00000500000000000000" pitchFamily="2" charset="0"/>
              </a:rPr>
              <a:t>nacional</a:t>
            </a:r>
            <a:r>
              <a:rPr lang="en-GB" sz="1200" dirty="0">
                <a:latin typeface="Montserrat" panose="00000500000000000000" pitchFamily="2" charset="0"/>
              </a:rPr>
              <a:t>.</a:t>
            </a:r>
            <a:endParaRPr lang="pt-BR" sz="1200" dirty="0">
              <a:latin typeface="Montserrat" panose="00000500000000000000" pitchFamily="2" charset="0"/>
            </a:endParaRPr>
          </a:p>
        </p:txBody>
      </p:sp>
      <p:sp>
        <p:nvSpPr>
          <p:cNvPr id="79" name="Rectangle 62">
            <a:extLst>
              <a:ext uri="{FF2B5EF4-FFF2-40B4-BE49-F238E27FC236}">
                <a16:creationId xmlns:a16="http://schemas.microsoft.com/office/drawing/2014/main" xmlns="" id="{D550853B-3B8A-3473-4D30-B3BE5889595C}"/>
              </a:ext>
            </a:extLst>
          </p:cNvPr>
          <p:cNvSpPr/>
          <p:nvPr/>
        </p:nvSpPr>
        <p:spPr>
          <a:xfrm>
            <a:off x="1702344" y="5858447"/>
            <a:ext cx="29012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 err="1" smtClean="0">
                <a:latin typeface="Montserrat" panose="00000500000000000000" pitchFamily="2" charset="0"/>
              </a:rPr>
              <a:t>Adaptabilidade</a:t>
            </a:r>
            <a:endParaRPr lang="pt-BR" sz="1200" dirty="0">
              <a:latin typeface="Montserrat" panose="00000500000000000000" pitchFamily="2" charset="0"/>
            </a:endParaRPr>
          </a:p>
        </p:txBody>
      </p:sp>
      <p:sp>
        <p:nvSpPr>
          <p:cNvPr id="80" name="Rectangle 63">
            <a:extLst>
              <a:ext uri="{FF2B5EF4-FFF2-40B4-BE49-F238E27FC236}">
                <a16:creationId xmlns:a16="http://schemas.microsoft.com/office/drawing/2014/main" xmlns="" id="{F533F7E4-76D3-FCF5-0D72-58F3DE889531}"/>
              </a:ext>
            </a:extLst>
          </p:cNvPr>
          <p:cNvSpPr/>
          <p:nvPr/>
        </p:nvSpPr>
        <p:spPr>
          <a:xfrm>
            <a:off x="1712973" y="6029071"/>
            <a:ext cx="40307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err="1">
                <a:latin typeface="Montserrat" panose="00000500000000000000" pitchFamily="2" charset="0"/>
              </a:rPr>
              <a:t>Possibilidade</a:t>
            </a:r>
            <a:r>
              <a:rPr lang="en-GB" sz="1200" dirty="0">
                <a:latin typeface="Montserrat" panose="00000500000000000000" pitchFamily="2" charset="0"/>
              </a:rPr>
              <a:t> de </a:t>
            </a:r>
            <a:r>
              <a:rPr lang="en-GB" sz="1200" dirty="0" err="1">
                <a:latin typeface="Montserrat" panose="00000500000000000000" pitchFamily="2" charset="0"/>
              </a:rPr>
              <a:t>configurar</a:t>
            </a:r>
            <a:r>
              <a:rPr lang="en-GB" sz="1200" dirty="0">
                <a:latin typeface="Montserrat" panose="00000500000000000000" pitchFamily="2" charset="0"/>
              </a:rPr>
              <a:t> o sistema de </a:t>
            </a:r>
            <a:r>
              <a:rPr lang="en-GB" sz="1200" dirty="0" err="1">
                <a:latin typeface="Montserrat" panose="00000500000000000000" pitchFamily="2" charset="0"/>
              </a:rPr>
              <a:t>acordo</a:t>
            </a:r>
            <a:r>
              <a:rPr lang="en-GB" sz="1200" dirty="0">
                <a:latin typeface="Montserrat" panose="00000500000000000000" pitchFamily="2" charset="0"/>
              </a:rPr>
              <a:t> com as </a:t>
            </a:r>
            <a:r>
              <a:rPr lang="en-GB" sz="1200" dirty="0" err="1">
                <a:latin typeface="Montserrat" panose="00000500000000000000" pitchFamily="2" charset="0"/>
              </a:rPr>
              <a:t>características</a:t>
            </a:r>
            <a:r>
              <a:rPr lang="en-GB" sz="1200" dirty="0">
                <a:latin typeface="Montserrat" panose="00000500000000000000" pitchFamily="2" charset="0"/>
              </a:rPr>
              <a:t> de cada </a:t>
            </a:r>
            <a:r>
              <a:rPr lang="en-GB" sz="1200" dirty="0" err="1">
                <a:latin typeface="Montserrat" panose="00000500000000000000" pitchFamily="2" charset="0"/>
              </a:rPr>
              <a:t>unidade</a:t>
            </a:r>
            <a:r>
              <a:rPr lang="en-GB" sz="1200" dirty="0">
                <a:latin typeface="Montserrat" panose="00000500000000000000" pitchFamily="2" charset="0"/>
              </a:rPr>
              <a:t>.</a:t>
            </a:r>
            <a:endParaRPr lang="pt-BR" sz="12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10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6">
            <a:extLst>
              <a:ext uri="{FF2B5EF4-FFF2-40B4-BE49-F238E27FC236}">
                <a16:creationId xmlns:a16="http://schemas.microsoft.com/office/drawing/2014/main" xmlns="" id="{F6B015DA-3B88-86D3-BDE8-E142E39A30D5}"/>
              </a:ext>
            </a:extLst>
          </p:cNvPr>
          <p:cNvSpPr/>
          <p:nvPr/>
        </p:nvSpPr>
        <p:spPr>
          <a:xfrm>
            <a:off x="0" y="2102421"/>
            <a:ext cx="12192000" cy="47285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D9D27076-EA65-0E65-74EE-7F63440A17FD}"/>
              </a:ext>
            </a:extLst>
          </p:cNvPr>
          <p:cNvGrpSpPr/>
          <p:nvPr/>
        </p:nvGrpSpPr>
        <p:grpSpPr>
          <a:xfrm>
            <a:off x="461824" y="1847287"/>
            <a:ext cx="5509996" cy="4902648"/>
            <a:chOff x="3460437" y="3908974"/>
            <a:chExt cx="5340663" cy="2169994"/>
          </a:xfrm>
        </p:grpSpPr>
        <p:sp>
          <p:nvSpPr>
            <p:cNvPr id="2" name="Retângulo: Cantos Arredondados 1">
              <a:extLst>
                <a:ext uri="{FF2B5EF4-FFF2-40B4-BE49-F238E27FC236}">
                  <a16:creationId xmlns:a16="http://schemas.microsoft.com/office/drawing/2014/main" xmlns="" id="{6F6D4A10-446A-A7E7-342E-82208A0A15F5}"/>
                </a:ext>
              </a:extLst>
            </p:cNvPr>
            <p:cNvSpPr/>
            <p:nvPr/>
          </p:nvSpPr>
          <p:spPr>
            <a:xfrm>
              <a:off x="3460437" y="3908974"/>
              <a:ext cx="5340663" cy="2169994"/>
            </a:xfrm>
            <a:prstGeom prst="roundRect">
              <a:avLst>
                <a:gd name="adj" fmla="val 870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63500" dist="38100" dir="13440000">
                <a:prstClr val="black">
                  <a:alpha val="4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7" name="7 CuadroTexto">
              <a:extLst>
                <a:ext uri="{FF2B5EF4-FFF2-40B4-BE49-F238E27FC236}">
                  <a16:creationId xmlns:a16="http://schemas.microsoft.com/office/drawing/2014/main" xmlns="" id="{CB442FFA-A1F2-A903-29A5-580ADA5EA45E}"/>
                </a:ext>
              </a:extLst>
            </p:cNvPr>
            <p:cNvSpPr txBox="1"/>
            <p:nvPr/>
          </p:nvSpPr>
          <p:spPr>
            <a:xfrm>
              <a:off x="3700364" y="3944170"/>
              <a:ext cx="4860809" cy="1871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ts val="1280"/>
                </a:lnSpc>
                <a:defRPr/>
              </a:pPr>
              <a:endParaRPr lang="en-US" sz="1200" dirty="0" smtClean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  <a:ea typeface="Roboto" panose="02000000000000000000" pitchFamily="2" charset="0"/>
                <a:cs typeface="Lato" charset="0"/>
              </a:endParaRPr>
            </a:p>
            <a:p>
              <a:r>
                <a:rPr lang="en-GB" sz="1200" b="1" dirty="0" smtClean="0">
                  <a:latin typeface="Montserrat" panose="00000500000000000000" pitchFamily="2" charset="0"/>
                </a:rPr>
                <a:t>IMPACTO FINANCEIRO HOSPITALAR</a:t>
              </a:r>
              <a:r>
                <a:rPr lang="en-GB" sz="1200" dirty="0" smtClean="0">
                  <a:latin typeface="Montserrat" panose="00000500000000000000" pitchFamily="2" charset="0"/>
                </a:rPr>
                <a:t/>
              </a:r>
              <a:br>
                <a:rPr lang="en-GB" sz="1200" dirty="0" smtClean="0">
                  <a:latin typeface="Montserrat" panose="00000500000000000000" pitchFamily="2" charset="0"/>
                </a:rPr>
              </a:br>
              <a:r>
                <a:rPr lang="en-GB" sz="1200" dirty="0" smtClean="0">
                  <a:latin typeface="Montserrat" panose="00000500000000000000" pitchFamily="2" charset="0"/>
                </a:rPr>
                <a:t>A </a:t>
              </a:r>
              <a:r>
                <a:rPr lang="en-GB" sz="1200" dirty="0" err="1">
                  <a:latin typeface="Montserrat" panose="00000500000000000000" pitchFamily="2" charset="0"/>
                </a:rPr>
                <a:t>implementação</a:t>
              </a:r>
              <a:r>
                <a:rPr lang="en-GB" sz="1200" dirty="0">
                  <a:latin typeface="Montserrat" panose="00000500000000000000" pitchFamily="2" charset="0"/>
                </a:rPr>
                <a:t> do SIGH-ANGOLA </a:t>
              </a:r>
              <a:r>
                <a:rPr lang="en-GB" sz="1200" dirty="0" err="1">
                  <a:latin typeface="Montserrat" panose="00000500000000000000" pitchFamily="2" charset="0"/>
                </a:rPr>
                <a:t>poderá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produzir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impactos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financeiros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significativos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através</a:t>
              </a:r>
              <a:r>
                <a:rPr lang="en-GB" sz="1200" dirty="0">
                  <a:latin typeface="Montserrat" panose="00000500000000000000" pitchFamily="2" charset="0"/>
                </a:rPr>
                <a:t> da </a:t>
              </a:r>
              <a:r>
                <a:rPr lang="en-GB" sz="1200" dirty="0" err="1">
                  <a:latin typeface="Montserrat" panose="00000500000000000000" pitchFamily="2" charset="0"/>
                </a:rPr>
                <a:t>digitalização</a:t>
              </a:r>
              <a:r>
                <a:rPr lang="en-GB" sz="1200" dirty="0">
                  <a:latin typeface="Montserrat" panose="00000500000000000000" pitchFamily="2" charset="0"/>
                </a:rPr>
                <a:t>, </a:t>
              </a:r>
              <a:r>
                <a:rPr lang="en-GB" sz="1200" dirty="0" err="1">
                  <a:latin typeface="Montserrat" panose="00000500000000000000" pitchFamily="2" charset="0"/>
                </a:rPr>
                <a:t>integração</a:t>
              </a:r>
              <a:r>
                <a:rPr lang="en-GB" sz="1200" dirty="0">
                  <a:latin typeface="Montserrat" panose="00000500000000000000" pitchFamily="2" charset="0"/>
                </a:rPr>
                <a:t> e </a:t>
              </a:r>
              <a:r>
                <a:rPr lang="en-GB" sz="1200" dirty="0" err="1">
                  <a:latin typeface="Montserrat" panose="00000500000000000000" pitchFamily="2" charset="0"/>
                </a:rPr>
                <a:t>racionalização</a:t>
              </a:r>
              <a:r>
                <a:rPr lang="en-GB" sz="1200" dirty="0">
                  <a:latin typeface="Montserrat" panose="00000500000000000000" pitchFamily="2" charset="0"/>
                </a:rPr>
                <a:t> dos </a:t>
              </a:r>
              <a:r>
                <a:rPr lang="en-GB" sz="1200" dirty="0" err="1">
                  <a:latin typeface="Montserrat" panose="00000500000000000000" pitchFamily="2" charset="0"/>
                </a:rPr>
                <a:t>processos</a:t>
              </a:r>
              <a:r>
                <a:rPr lang="en-GB" sz="1200" dirty="0">
                  <a:latin typeface="Montserrat" panose="00000500000000000000" pitchFamily="2" charset="0"/>
                </a:rPr>
                <a:t> hospitalares.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r>
                <a:rPr lang="en-GB" sz="1200" dirty="0">
                  <a:latin typeface="Montserrat" panose="00000500000000000000" pitchFamily="2" charset="0"/>
                </a:rPr>
                <a:t>Um dos </a:t>
              </a:r>
              <a:r>
                <a:rPr lang="en-GB" sz="1200" dirty="0" err="1">
                  <a:latin typeface="Montserrat" panose="00000500000000000000" pitchFamily="2" charset="0"/>
                </a:rPr>
                <a:t>principais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benefícios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esperados</a:t>
              </a:r>
              <a:r>
                <a:rPr lang="en-GB" sz="1200" dirty="0">
                  <a:latin typeface="Montserrat" panose="00000500000000000000" pitchFamily="2" charset="0"/>
                </a:rPr>
                <a:t> é a </a:t>
              </a:r>
              <a:r>
                <a:rPr lang="en-GB" sz="1200" dirty="0" err="1">
                  <a:latin typeface="Montserrat" panose="00000500000000000000" pitchFamily="2" charset="0"/>
                </a:rPr>
                <a:t>redução</a:t>
              </a:r>
              <a:r>
                <a:rPr lang="en-GB" sz="1200" dirty="0">
                  <a:latin typeface="Montserrat" panose="00000500000000000000" pitchFamily="2" charset="0"/>
                </a:rPr>
                <a:t> dos </a:t>
              </a:r>
              <a:r>
                <a:rPr lang="en-GB" sz="1200" dirty="0" err="1">
                  <a:latin typeface="Montserrat" panose="00000500000000000000" pitchFamily="2" charset="0"/>
                </a:rPr>
                <a:t>custos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associados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ao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uso</a:t>
              </a:r>
              <a:r>
                <a:rPr lang="en-GB" sz="1200" dirty="0">
                  <a:latin typeface="Montserrat" panose="00000500000000000000" pitchFamily="2" charset="0"/>
                </a:rPr>
                <a:t> de </a:t>
              </a:r>
              <a:r>
                <a:rPr lang="en-GB" sz="1200" dirty="0" err="1">
                  <a:latin typeface="Montserrat" panose="00000500000000000000" pitchFamily="2" charset="0"/>
                </a:rPr>
                <a:t>papel</a:t>
              </a:r>
              <a:r>
                <a:rPr lang="en-GB" sz="1200" dirty="0">
                  <a:latin typeface="Montserrat" panose="00000500000000000000" pitchFamily="2" charset="0"/>
                </a:rPr>
                <a:t>, </a:t>
              </a:r>
              <a:r>
                <a:rPr lang="en-GB" sz="1200" dirty="0" err="1">
                  <a:latin typeface="Montserrat" panose="00000500000000000000" pitchFamily="2" charset="0"/>
                </a:rPr>
                <a:t>incluindo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despesas</a:t>
              </a:r>
              <a:r>
                <a:rPr lang="en-GB" sz="1200" dirty="0">
                  <a:latin typeface="Montserrat" panose="00000500000000000000" pitchFamily="2" charset="0"/>
                </a:rPr>
                <a:t> com </a:t>
              </a:r>
              <a:r>
                <a:rPr lang="en-GB" sz="1200" dirty="0" err="1">
                  <a:latin typeface="Montserrat" panose="00000500000000000000" pitchFamily="2" charset="0"/>
                </a:rPr>
                <a:t>impressão</a:t>
              </a:r>
              <a:r>
                <a:rPr lang="en-GB" sz="1200" dirty="0">
                  <a:latin typeface="Montserrat" panose="00000500000000000000" pitchFamily="2" charset="0"/>
                </a:rPr>
                <a:t>, toner, </a:t>
              </a:r>
              <a:r>
                <a:rPr lang="en-GB" sz="1200" dirty="0" err="1">
                  <a:latin typeface="Montserrat" panose="00000500000000000000" pitchFamily="2" charset="0"/>
                </a:rPr>
                <a:t>formulários</a:t>
              </a:r>
              <a:r>
                <a:rPr lang="en-GB" sz="1200" dirty="0">
                  <a:latin typeface="Montserrat" panose="00000500000000000000" pitchFamily="2" charset="0"/>
                </a:rPr>
                <a:t>, </a:t>
              </a:r>
              <a:r>
                <a:rPr lang="en-GB" sz="1200" dirty="0" err="1">
                  <a:latin typeface="Montserrat" panose="00000500000000000000" pitchFamily="2" charset="0"/>
                </a:rPr>
                <a:t>armazenamento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físico</a:t>
              </a:r>
              <a:r>
                <a:rPr lang="en-GB" sz="1200" dirty="0">
                  <a:latin typeface="Montserrat" panose="00000500000000000000" pitchFamily="2" charset="0"/>
                </a:rPr>
                <a:t>, </a:t>
              </a:r>
              <a:r>
                <a:rPr lang="en-GB" sz="1200" dirty="0" err="1">
                  <a:latin typeface="Montserrat" panose="00000500000000000000" pitchFamily="2" charset="0"/>
                </a:rPr>
                <a:t>transporte</a:t>
              </a:r>
              <a:r>
                <a:rPr lang="en-GB" sz="1200" dirty="0">
                  <a:latin typeface="Montserrat" panose="00000500000000000000" pitchFamily="2" charset="0"/>
                </a:rPr>
                <a:t> e </a:t>
              </a:r>
              <a:r>
                <a:rPr lang="en-GB" sz="1200" dirty="0" err="1">
                  <a:latin typeface="Montserrat" panose="00000500000000000000" pitchFamily="2" charset="0"/>
                </a:rPr>
                <a:t>arquivo</a:t>
              </a:r>
              <a:r>
                <a:rPr lang="en-GB" sz="1200" dirty="0">
                  <a:latin typeface="Montserrat" panose="00000500000000000000" pitchFamily="2" charset="0"/>
                </a:rPr>
                <a:t> de </a:t>
              </a:r>
              <a:r>
                <a:rPr lang="en-GB" sz="1200" dirty="0" err="1">
                  <a:latin typeface="Montserrat" panose="00000500000000000000" pitchFamily="2" charset="0"/>
                </a:rPr>
                <a:t>documentos</a:t>
              </a:r>
              <a:r>
                <a:rPr lang="en-GB" sz="1200" dirty="0" smtClean="0">
                  <a:latin typeface="Montserrat" panose="00000500000000000000" pitchFamily="2" charset="0"/>
                </a:rPr>
                <a:t>.</a:t>
              </a:r>
            </a:p>
            <a:p>
              <a:r>
                <a:rPr lang="en-GB" sz="1200" dirty="0" smtClean="0">
                  <a:latin typeface="Montserrat" panose="00000500000000000000" pitchFamily="2" charset="0"/>
                </a:rPr>
                <a:t/>
              </a:r>
              <a:br>
                <a:rPr lang="en-GB" sz="1200" dirty="0" smtClean="0">
                  <a:latin typeface="Montserrat" panose="00000500000000000000" pitchFamily="2" charset="0"/>
                </a:rPr>
              </a:br>
              <a:r>
                <a:rPr lang="en-GB" sz="1200" dirty="0">
                  <a:latin typeface="Montserrat" panose="00000500000000000000" pitchFamily="2" charset="0"/>
                </a:rPr>
                <a:t>A </a:t>
              </a:r>
              <a:r>
                <a:rPr lang="en-GB" sz="1200" dirty="0" err="1">
                  <a:latin typeface="Montserrat" panose="00000500000000000000" pitchFamily="2" charset="0"/>
                </a:rPr>
                <a:t>informatização</a:t>
              </a:r>
              <a:r>
                <a:rPr lang="en-GB" sz="1200" dirty="0">
                  <a:latin typeface="Montserrat" panose="00000500000000000000" pitchFamily="2" charset="0"/>
                </a:rPr>
                <a:t> dos </a:t>
              </a:r>
              <a:r>
                <a:rPr lang="en-GB" sz="1200" dirty="0" err="1">
                  <a:latin typeface="Montserrat" panose="00000500000000000000" pitchFamily="2" charset="0"/>
                </a:rPr>
                <a:t>processos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poderá</a:t>
              </a:r>
              <a:r>
                <a:rPr lang="en-GB" sz="1200" dirty="0">
                  <a:latin typeface="Montserrat" panose="00000500000000000000" pitchFamily="2" charset="0"/>
                </a:rPr>
                <a:t> ainda </a:t>
              </a:r>
              <a:r>
                <a:rPr lang="en-GB" sz="1200" dirty="0" err="1">
                  <a:latin typeface="Montserrat" panose="00000500000000000000" pitchFamily="2" charset="0"/>
                </a:rPr>
                <a:t>contribuir</a:t>
              </a:r>
              <a:r>
                <a:rPr lang="en-GB" sz="1200" dirty="0">
                  <a:latin typeface="Montserrat" panose="00000500000000000000" pitchFamily="2" charset="0"/>
                </a:rPr>
                <a:t> para</a:t>
              </a:r>
              <a:r>
                <a:rPr lang="en-GB" sz="1200" dirty="0" smtClean="0">
                  <a:latin typeface="Montserrat" panose="00000500000000000000" pitchFamily="2" charset="0"/>
                </a:rPr>
                <a:t>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>
                  <a:latin typeface="Montserrat" panose="00000500000000000000" pitchFamily="2" charset="0"/>
                </a:rPr>
                <a:t>R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edução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>
                  <a:latin typeface="Montserrat" panose="00000500000000000000" pitchFamily="2" charset="0"/>
                </a:rPr>
                <a:t>de </a:t>
              </a:r>
              <a:r>
                <a:rPr lang="en-GB" sz="1200" dirty="0" err="1">
                  <a:latin typeface="Montserrat" panose="00000500000000000000" pitchFamily="2" charset="0"/>
                </a:rPr>
                <a:t>desperdícios</a:t>
              </a:r>
              <a:r>
                <a:rPr lang="en-GB" sz="1200" dirty="0">
                  <a:latin typeface="Montserrat" panose="00000500000000000000" pitchFamily="2" charset="0"/>
                </a:rPr>
                <a:t> de </a:t>
              </a:r>
              <a:r>
                <a:rPr lang="en-GB" sz="1200" dirty="0" err="1">
                  <a:latin typeface="Montserrat" panose="00000500000000000000" pitchFamily="2" charset="0"/>
                </a:rPr>
                <a:t>materiais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gastáveis</a:t>
              </a:r>
              <a:r>
                <a:rPr lang="en-GB" sz="1200" dirty="0">
                  <a:latin typeface="Montserrat" panose="00000500000000000000" pitchFamily="2" charset="0"/>
                </a:rPr>
                <a:t>;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>
                  <a:latin typeface="Montserrat" panose="00000500000000000000" pitchFamily="2" charset="0"/>
                </a:rPr>
                <a:t>M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elhor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controlo</a:t>
              </a:r>
              <a:r>
                <a:rPr lang="en-GB" sz="1200" dirty="0">
                  <a:latin typeface="Montserrat" panose="00000500000000000000" pitchFamily="2" charset="0"/>
                </a:rPr>
                <a:t> de </a:t>
              </a:r>
              <a:r>
                <a:rPr lang="en-GB" sz="1200" dirty="0" err="1">
                  <a:latin typeface="Montserrat" panose="00000500000000000000" pitchFamily="2" charset="0"/>
                </a:rPr>
                <a:t>medicamentos</a:t>
              </a:r>
              <a:r>
                <a:rPr lang="en-GB" sz="1200" dirty="0">
                  <a:latin typeface="Montserrat" panose="00000500000000000000" pitchFamily="2" charset="0"/>
                </a:rPr>
                <a:t> e </a:t>
              </a:r>
              <a:r>
                <a:rPr lang="en-GB" sz="1200" dirty="0" err="1">
                  <a:latin typeface="Montserrat" panose="00000500000000000000" pitchFamily="2" charset="0"/>
                </a:rPr>
                <a:t>consumíveis</a:t>
              </a:r>
              <a:r>
                <a:rPr lang="en-GB" sz="1200" dirty="0">
                  <a:latin typeface="Montserrat" panose="00000500000000000000" pitchFamily="2" charset="0"/>
                </a:rPr>
                <a:t>;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>
                  <a:latin typeface="Montserrat" panose="00000500000000000000" pitchFamily="2" charset="0"/>
                </a:rPr>
                <a:t>R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edução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>
                  <a:latin typeface="Montserrat" panose="00000500000000000000" pitchFamily="2" charset="0"/>
                </a:rPr>
                <a:t>de </a:t>
              </a:r>
              <a:r>
                <a:rPr lang="en-GB" sz="1200" dirty="0" err="1">
                  <a:latin typeface="Montserrat" panose="00000500000000000000" pitchFamily="2" charset="0"/>
                </a:rPr>
                <a:t>perdas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por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expiração</a:t>
              </a:r>
              <a:r>
                <a:rPr lang="en-GB" sz="1200" dirty="0">
                  <a:latin typeface="Montserrat" panose="00000500000000000000" pitchFamily="2" charset="0"/>
                </a:rPr>
                <a:t> de </a:t>
              </a:r>
              <a:r>
                <a:rPr lang="en-GB" sz="1200" dirty="0" err="1">
                  <a:latin typeface="Montserrat" panose="00000500000000000000" pitchFamily="2" charset="0"/>
                </a:rPr>
                <a:t>produtos</a:t>
              </a:r>
              <a:r>
                <a:rPr lang="en-GB" sz="1200" dirty="0">
                  <a:latin typeface="Montserrat" panose="00000500000000000000" pitchFamily="2" charset="0"/>
                </a:rPr>
                <a:t>;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Melhoria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>
                  <a:latin typeface="Montserrat" panose="00000500000000000000" pitchFamily="2" charset="0"/>
                </a:rPr>
                <a:t>do </a:t>
              </a:r>
              <a:r>
                <a:rPr lang="en-GB" sz="1200" dirty="0" err="1">
                  <a:latin typeface="Montserrat" panose="00000500000000000000" pitchFamily="2" charset="0"/>
                </a:rPr>
                <a:t>controlo</a:t>
              </a:r>
              <a:r>
                <a:rPr lang="en-GB" sz="1200" dirty="0">
                  <a:latin typeface="Montserrat" panose="00000500000000000000" pitchFamily="2" charset="0"/>
                </a:rPr>
                <a:t> de stocks;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>
                  <a:latin typeface="Montserrat" panose="00000500000000000000" pitchFamily="2" charset="0"/>
                </a:rPr>
                <a:t>R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edução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>
                  <a:latin typeface="Montserrat" panose="00000500000000000000" pitchFamily="2" charset="0"/>
                </a:rPr>
                <a:t>de </a:t>
              </a:r>
              <a:r>
                <a:rPr lang="en-GB" sz="1200" dirty="0" err="1">
                  <a:latin typeface="Montserrat" panose="00000500000000000000" pitchFamily="2" charset="0"/>
                </a:rPr>
                <a:t>duplicação</a:t>
              </a:r>
              <a:r>
                <a:rPr lang="en-GB" sz="1200" dirty="0">
                  <a:latin typeface="Montserrat" panose="00000500000000000000" pitchFamily="2" charset="0"/>
                </a:rPr>
                <a:t> de </a:t>
              </a:r>
              <a:r>
                <a:rPr lang="en-GB" sz="1200" dirty="0" err="1">
                  <a:latin typeface="Montserrat" panose="00000500000000000000" pitchFamily="2" charset="0"/>
                </a:rPr>
                <a:t>registos</a:t>
              </a:r>
              <a:r>
                <a:rPr lang="en-GB" sz="1200" dirty="0">
                  <a:latin typeface="Montserrat" panose="00000500000000000000" pitchFamily="2" charset="0"/>
                </a:rPr>
                <a:t>;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Diminuição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>
                  <a:latin typeface="Montserrat" panose="00000500000000000000" pitchFamily="2" charset="0"/>
                </a:rPr>
                <a:t>do tempo </a:t>
              </a:r>
              <a:r>
                <a:rPr lang="en-GB" sz="1200" dirty="0" err="1">
                  <a:latin typeface="Montserrat" panose="00000500000000000000" pitchFamily="2" charset="0"/>
                </a:rPr>
                <a:t>gasto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em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tarefas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administrativas</a:t>
              </a:r>
              <a:r>
                <a:rPr lang="en-GB" sz="1200" dirty="0">
                  <a:latin typeface="Montserrat" panose="00000500000000000000" pitchFamily="2" charset="0"/>
                </a:rPr>
                <a:t>;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>
                  <a:latin typeface="Montserrat" panose="00000500000000000000" pitchFamily="2" charset="0"/>
                </a:rPr>
                <a:t>M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elhor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utilização</a:t>
              </a:r>
              <a:r>
                <a:rPr lang="en-GB" sz="1200" dirty="0">
                  <a:latin typeface="Montserrat" panose="00000500000000000000" pitchFamily="2" charset="0"/>
                </a:rPr>
                <a:t> dos </a:t>
              </a:r>
              <a:r>
                <a:rPr lang="en-GB" sz="1200" dirty="0" err="1">
                  <a:latin typeface="Montserrat" panose="00000500000000000000" pitchFamily="2" charset="0"/>
                </a:rPr>
                <a:t>recursos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humanos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Redução</a:t>
              </a:r>
              <a:r>
                <a:rPr lang="en-GB" sz="1200" dirty="0" smtClean="0">
                  <a:latin typeface="Montserrat" panose="00000500000000000000" pitchFamily="2" charset="0"/>
                </a:rPr>
                <a:t> de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erros</a:t>
              </a:r>
              <a:r>
                <a:rPr lang="en-GB" sz="1200" dirty="0" smtClean="0">
                  <a:latin typeface="Montserrat" panose="00000500000000000000" pitchFamily="2" charset="0"/>
                </a:rPr>
                <a:t> de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transcrição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Melhoria</a:t>
              </a:r>
              <a:r>
                <a:rPr lang="en-GB" sz="1200" dirty="0" smtClean="0">
                  <a:latin typeface="Montserrat" panose="00000500000000000000" pitchFamily="2" charset="0"/>
                </a:rPr>
                <a:t> do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controlo</a:t>
              </a:r>
              <a:r>
                <a:rPr lang="en-GB" sz="1200" dirty="0" smtClean="0">
                  <a:latin typeface="Montserrat" panose="00000500000000000000" pitchFamily="2" charset="0"/>
                </a:rPr>
                <a:t> de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receitas</a:t>
              </a:r>
              <a:r>
                <a:rPr lang="en-GB" sz="1200" dirty="0" smtClean="0">
                  <a:latin typeface="Montserrat" panose="00000500000000000000" pitchFamily="2" charset="0"/>
                </a:rPr>
                <a:t>,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despesas</a:t>
              </a:r>
              <a:r>
                <a:rPr lang="en-GB" sz="1200" dirty="0" smtClean="0">
                  <a:latin typeface="Montserrat" panose="00000500000000000000" pitchFamily="2" charset="0"/>
                </a:rPr>
                <a:t> 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faturação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Maior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capacidade</a:t>
              </a:r>
              <a:r>
                <a:rPr lang="en-GB" sz="1200" dirty="0" smtClean="0">
                  <a:latin typeface="Montserrat" panose="00000500000000000000" pitchFamily="2" charset="0"/>
                </a:rPr>
                <a:t> de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planeamento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financeiro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Identificação</a:t>
              </a:r>
              <a:r>
                <a:rPr lang="en-GB" sz="1200" dirty="0" smtClean="0">
                  <a:latin typeface="Montserrat" panose="00000500000000000000" pitchFamily="2" charset="0"/>
                </a:rPr>
                <a:t> de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desperdícios</a:t>
              </a:r>
              <a:r>
                <a:rPr lang="en-GB" sz="1200" dirty="0" smtClean="0">
                  <a:latin typeface="Montserrat" panose="00000500000000000000" pitchFamily="2" charset="0"/>
                </a:rPr>
                <a:t> 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ineficiências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operacionais</a:t>
              </a:r>
              <a:r>
                <a:rPr lang="en-GB" sz="1200" dirty="0" smtClean="0">
                  <a:latin typeface="Montserrat" panose="00000500000000000000" pitchFamily="2" charset="0"/>
                </a:rPr>
                <a:t>.</a:t>
              </a:r>
              <a:endParaRPr lang="pt-BR" sz="1200" dirty="0" smtClean="0">
                <a:latin typeface="Montserrat" panose="00000500000000000000" pitchFamily="2" charset="0"/>
              </a:endParaRPr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65094661-9300-275B-0538-92390105F02E}"/>
              </a:ext>
            </a:extLst>
          </p:cNvPr>
          <p:cNvSpPr txBox="1"/>
          <p:nvPr/>
        </p:nvSpPr>
        <p:spPr>
          <a:xfrm>
            <a:off x="805015" y="729105"/>
            <a:ext cx="6096000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</a:pPr>
            <a:r>
              <a:rPr lang="en-GB" sz="2400" b="1" dirty="0">
                <a:latin typeface="Montserrat" panose="00000500000000000000" pitchFamily="2" charset="0"/>
              </a:rPr>
              <a:t>IMPACTO FINANCEIRO, SOCIAL E NO DESENVOLVIMENTO HOSPITALAR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BBA29194-FF6B-2C5A-8B5B-D5EDA9E6FECF}"/>
              </a:ext>
            </a:extLst>
          </p:cNvPr>
          <p:cNvSpPr/>
          <p:nvPr/>
        </p:nvSpPr>
        <p:spPr>
          <a:xfrm>
            <a:off x="759296" y="779458"/>
            <a:ext cx="45719" cy="436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7" name="Agrupar 66">
            <a:extLst>
              <a:ext uri="{FF2B5EF4-FFF2-40B4-BE49-F238E27FC236}">
                <a16:creationId xmlns:a16="http://schemas.microsoft.com/office/drawing/2014/main" xmlns="" id="{DF0DE179-0713-31DB-E70A-5BBD871E183C}"/>
              </a:ext>
            </a:extLst>
          </p:cNvPr>
          <p:cNvGrpSpPr/>
          <p:nvPr/>
        </p:nvGrpSpPr>
        <p:grpSpPr>
          <a:xfrm>
            <a:off x="6180155" y="1843374"/>
            <a:ext cx="5509996" cy="5009615"/>
            <a:chOff x="3460437" y="3908974"/>
            <a:chExt cx="5340663" cy="2215573"/>
          </a:xfrm>
        </p:grpSpPr>
        <p:sp>
          <p:nvSpPr>
            <p:cNvPr id="68" name="Retângulo: Cantos Arredondados 67">
              <a:extLst>
                <a:ext uri="{FF2B5EF4-FFF2-40B4-BE49-F238E27FC236}">
                  <a16:creationId xmlns:a16="http://schemas.microsoft.com/office/drawing/2014/main" xmlns="" id="{B7BFCC6B-E45E-7B4B-E8F9-67DAB1773613}"/>
                </a:ext>
              </a:extLst>
            </p:cNvPr>
            <p:cNvSpPr/>
            <p:nvPr/>
          </p:nvSpPr>
          <p:spPr>
            <a:xfrm>
              <a:off x="3460437" y="3908974"/>
              <a:ext cx="5340663" cy="2169994"/>
            </a:xfrm>
            <a:prstGeom prst="roundRect">
              <a:avLst>
                <a:gd name="adj" fmla="val 870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63500" dist="38100" dir="13440000">
                <a:prstClr val="black">
                  <a:alpha val="4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69" name="7 CuadroTexto">
              <a:extLst>
                <a:ext uri="{FF2B5EF4-FFF2-40B4-BE49-F238E27FC236}">
                  <a16:creationId xmlns:a16="http://schemas.microsoft.com/office/drawing/2014/main" xmlns="" id="{B26354EF-960E-61BA-A40B-991D7EA05880}"/>
                </a:ext>
              </a:extLst>
            </p:cNvPr>
            <p:cNvSpPr txBox="1"/>
            <p:nvPr/>
          </p:nvSpPr>
          <p:spPr>
            <a:xfrm>
              <a:off x="3700363" y="3968202"/>
              <a:ext cx="4860809" cy="21563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ts val="1280"/>
                </a:lnSpc>
                <a:defRPr/>
              </a:pPr>
              <a:endParaRPr lang="en-US" sz="120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  <a:ea typeface="Roboto" panose="02000000000000000000" pitchFamily="2" charset="0"/>
                <a:cs typeface="Lato" charset="0"/>
              </a:endParaRPr>
            </a:p>
            <a:p>
              <a:r>
                <a:rPr lang="en-GB" sz="1200" b="1" dirty="0" smtClean="0">
                  <a:latin typeface="Montserrat" panose="00000500000000000000" pitchFamily="2" charset="0"/>
                </a:rPr>
                <a:t>IMPACTO SOCIAL </a:t>
              </a:r>
            </a:p>
            <a:p>
              <a:r>
                <a:rPr lang="en-GB" sz="1200" dirty="0" smtClean="0">
                  <a:latin typeface="Montserrat" panose="00000500000000000000" pitchFamily="2" charset="0"/>
                </a:rPr>
                <a:t>O </a:t>
              </a:r>
              <a:r>
                <a:rPr lang="en-GB" sz="1200" dirty="0">
                  <a:latin typeface="Montserrat" panose="00000500000000000000" pitchFamily="2" charset="0"/>
                </a:rPr>
                <a:t>SIGH-ANGOLA </a:t>
              </a:r>
              <a:r>
                <a:rPr lang="en-GB" sz="1200" dirty="0" err="1">
                  <a:latin typeface="Montserrat" panose="00000500000000000000" pitchFamily="2" charset="0"/>
                </a:rPr>
                <a:t>apresenta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potencial</a:t>
              </a:r>
              <a:r>
                <a:rPr lang="en-GB" sz="1200" dirty="0">
                  <a:latin typeface="Montserrat" panose="00000500000000000000" pitchFamily="2" charset="0"/>
                </a:rPr>
                <a:t> para </a:t>
              </a:r>
              <a:r>
                <a:rPr lang="en-GB" sz="1200" dirty="0" err="1">
                  <a:latin typeface="Montserrat" panose="00000500000000000000" pitchFamily="2" charset="0"/>
                </a:rPr>
                <a:t>produzir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impacto</a:t>
              </a:r>
              <a:r>
                <a:rPr lang="en-GB" sz="1200" dirty="0">
                  <a:latin typeface="Montserrat" panose="00000500000000000000" pitchFamily="2" charset="0"/>
                </a:rPr>
                <a:t> social </a:t>
              </a:r>
              <a:r>
                <a:rPr lang="en-GB" sz="1200" dirty="0" err="1">
                  <a:latin typeface="Montserrat" panose="00000500000000000000" pitchFamily="2" charset="0"/>
                </a:rPr>
                <a:t>direto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na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qualidade</a:t>
              </a:r>
              <a:r>
                <a:rPr lang="en-GB" sz="1200" dirty="0">
                  <a:latin typeface="Montserrat" panose="00000500000000000000" pitchFamily="2" charset="0"/>
                </a:rPr>
                <a:t> e </a:t>
              </a:r>
              <a:r>
                <a:rPr lang="en-GB" sz="1200" dirty="0" err="1">
                  <a:latin typeface="Montserrat" panose="00000500000000000000" pitchFamily="2" charset="0"/>
                </a:rPr>
                <a:t>acessibilidade</a:t>
              </a:r>
              <a:r>
                <a:rPr lang="en-GB" sz="1200" dirty="0">
                  <a:latin typeface="Montserrat" panose="00000500000000000000" pitchFamily="2" charset="0"/>
                </a:rPr>
                <a:t> dos </a:t>
              </a:r>
              <a:r>
                <a:rPr lang="en-GB" sz="1200" dirty="0" err="1">
                  <a:latin typeface="Montserrat" panose="00000500000000000000" pitchFamily="2" charset="0"/>
                </a:rPr>
                <a:t>serviços</a:t>
              </a:r>
              <a:r>
                <a:rPr lang="en-GB" sz="1200" dirty="0">
                  <a:latin typeface="Montserrat" panose="00000500000000000000" pitchFamily="2" charset="0"/>
                </a:rPr>
                <a:t> de </a:t>
              </a:r>
              <a:r>
                <a:rPr lang="en-GB" sz="1200" dirty="0" err="1">
                  <a:latin typeface="Montserrat" panose="00000500000000000000" pitchFamily="2" charset="0"/>
                </a:rPr>
                <a:t>saúde</a:t>
              </a:r>
              <a:r>
                <a:rPr lang="en-GB" sz="1200" dirty="0">
                  <a:latin typeface="Montserrat" panose="00000500000000000000" pitchFamily="2" charset="0"/>
                </a:rPr>
                <a:t>.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r>
                <a:rPr lang="en-GB" sz="1200" dirty="0">
                  <a:latin typeface="Montserrat" panose="00000500000000000000" pitchFamily="2" charset="0"/>
                </a:rPr>
                <a:t>A </a:t>
              </a:r>
              <a:r>
                <a:rPr lang="en-GB" sz="1200" dirty="0" err="1">
                  <a:latin typeface="Montserrat" panose="00000500000000000000" pitchFamily="2" charset="0"/>
                </a:rPr>
                <a:t>digitalização</a:t>
              </a:r>
              <a:r>
                <a:rPr lang="en-GB" sz="1200" dirty="0">
                  <a:latin typeface="Montserrat" panose="00000500000000000000" pitchFamily="2" charset="0"/>
                </a:rPr>
                <a:t> dos </a:t>
              </a:r>
              <a:r>
                <a:rPr lang="en-GB" sz="1200" dirty="0" err="1">
                  <a:latin typeface="Montserrat" panose="00000500000000000000" pitchFamily="2" charset="0"/>
                </a:rPr>
                <a:t>processos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poderá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contribuir</a:t>
              </a:r>
              <a:r>
                <a:rPr lang="en-GB" sz="1200" dirty="0">
                  <a:latin typeface="Montserrat" panose="00000500000000000000" pitchFamily="2" charset="0"/>
                </a:rPr>
                <a:t> para a </a:t>
              </a:r>
              <a:r>
                <a:rPr lang="en-GB" sz="1200" dirty="0" err="1">
                  <a:latin typeface="Montserrat" panose="00000500000000000000" pitchFamily="2" charset="0"/>
                </a:rPr>
                <a:t>redução</a:t>
              </a:r>
              <a:r>
                <a:rPr lang="en-GB" sz="1200" dirty="0">
                  <a:latin typeface="Montserrat" panose="00000500000000000000" pitchFamily="2" charset="0"/>
                </a:rPr>
                <a:t> do tempo de </a:t>
              </a:r>
              <a:r>
                <a:rPr lang="en-GB" sz="1200" dirty="0" err="1">
                  <a:latin typeface="Montserrat" panose="00000500000000000000" pitchFamily="2" charset="0"/>
                </a:rPr>
                <a:t>espera</a:t>
              </a:r>
              <a:r>
                <a:rPr lang="en-GB" sz="1200" dirty="0">
                  <a:latin typeface="Montserrat" panose="00000500000000000000" pitchFamily="2" charset="0"/>
                </a:rPr>
                <a:t>, </a:t>
              </a:r>
              <a:r>
                <a:rPr lang="en-GB" sz="1200" dirty="0" err="1">
                  <a:latin typeface="Montserrat" panose="00000500000000000000" pitchFamily="2" charset="0"/>
                </a:rPr>
                <a:t>melhoria</a:t>
              </a:r>
              <a:r>
                <a:rPr lang="en-GB" sz="1200" dirty="0">
                  <a:latin typeface="Montserrat" panose="00000500000000000000" pitchFamily="2" charset="0"/>
                </a:rPr>
                <a:t> da </a:t>
              </a:r>
              <a:r>
                <a:rPr lang="en-GB" sz="1200" dirty="0" err="1">
                  <a:latin typeface="Montserrat" panose="00000500000000000000" pitchFamily="2" charset="0"/>
                </a:rPr>
                <a:t>organização</a:t>
              </a:r>
              <a:r>
                <a:rPr lang="en-GB" sz="1200" dirty="0">
                  <a:latin typeface="Montserrat" panose="00000500000000000000" pitchFamily="2" charset="0"/>
                </a:rPr>
                <a:t> dos </a:t>
              </a:r>
              <a:r>
                <a:rPr lang="en-GB" sz="1200" dirty="0" err="1">
                  <a:latin typeface="Montserrat" panose="00000500000000000000" pitchFamily="2" charset="0"/>
                </a:rPr>
                <a:t>serviços</a:t>
              </a:r>
              <a:r>
                <a:rPr lang="en-GB" sz="1200" dirty="0">
                  <a:latin typeface="Montserrat" panose="00000500000000000000" pitchFamily="2" charset="0"/>
                </a:rPr>
                <a:t> e </a:t>
              </a:r>
              <a:r>
                <a:rPr lang="en-GB" sz="1200" dirty="0" err="1">
                  <a:latin typeface="Montserrat" panose="00000500000000000000" pitchFamily="2" charset="0"/>
                </a:rPr>
                <a:t>maior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disponibilidade</a:t>
              </a:r>
              <a:r>
                <a:rPr lang="en-GB" sz="1200" dirty="0">
                  <a:latin typeface="Montserrat" panose="00000500000000000000" pitchFamily="2" charset="0"/>
                </a:rPr>
                <a:t> de </a:t>
              </a:r>
              <a:r>
                <a:rPr lang="en-GB" sz="1200" dirty="0" err="1">
                  <a:latin typeface="Montserrat" panose="00000500000000000000" pitchFamily="2" charset="0"/>
                </a:rPr>
                <a:t>informação</a:t>
              </a:r>
              <a:r>
                <a:rPr lang="en-GB" sz="1200" dirty="0">
                  <a:latin typeface="Montserrat" panose="00000500000000000000" pitchFamily="2" charset="0"/>
                </a:rPr>
                <a:t> para </a:t>
              </a:r>
              <a:r>
                <a:rPr lang="en-GB" sz="1200" dirty="0" err="1">
                  <a:latin typeface="Montserrat" panose="00000500000000000000" pitchFamily="2" charset="0"/>
                </a:rPr>
                <a:t>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profissionais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responsáveis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pelo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atendimento</a:t>
              </a:r>
              <a:r>
                <a:rPr lang="en-GB" sz="1200" dirty="0" smtClean="0">
                  <a:latin typeface="Montserrat" panose="00000500000000000000" pitchFamily="2" charset="0"/>
                </a:rPr>
                <a:t>.</a:t>
              </a:r>
            </a:p>
            <a:p>
              <a:endParaRPr lang="pt-BR" sz="1200" dirty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>
                  <a:latin typeface="Montserrat" panose="00000500000000000000" pitchFamily="2" charset="0"/>
                </a:rPr>
                <a:t>Entre </a:t>
              </a:r>
              <a:r>
                <a:rPr lang="en-GB" sz="1200" dirty="0" err="1">
                  <a:latin typeface="Montserrat" panose="00000500000000000000" pitchFamily="2" charset="0"/>
                </a:rPr>
                <a:t>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principais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impactos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sociais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esperados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destacam</a:t>
              </a:r>
              <a:r>
                <a:rPr lang="en-GB" sz="1200" dirty="0">
                  <a:latin typeface="Montserrat" panose="00000500000000000000" pitchFamily="2" charset="0"/>
                </a:rPr>
                <a:t>-se</a:t>
              </a:r>
              <a:r>
                <a:rPr lang="en-GB" sz="1200" dirty="0" smtClean="0">
                  <a:latin typeface="Montserrat" panose="00000500000000000000" pitchFamily="2" charset="0"/>
                </a:rPr>
                <a:t>:</a:t>
              </a:r>
              <a:br>
                <a:rPr lang="en-GB" sz="1200" dirty="0" smtClean="0">
                  <a:latin typeface="Montserrat" panose="00000500000000000000" pitchFamily="2" charset="0"/>
                </a:rPr>
              </a:br>
              <a:r>
                <a:rPr lang="en-GB" sz="1200" dirty="0" err="1" smtClean="0">
                  <a:latin typeface="Montserrat" panose="00000500000000000000" pitchFamily="2" charset="0"/>
                </a:rPr>
                <a:t>Melhoria</a:t>
              </a:r>
              <a:r>
                <a:rPr lang="en-GB" sz="1200" dirty="0" smtClean="0">
                  <a:latin typeface="Montserrat" panose="00000500000000000000" pitchFamily="2" charset="0"/>
                </a:rPr>
                <a:t> da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qualidade</a:t>
              </a:r>
              <a:r>
                <a:rPr lang="en-GB" sz="1200" dirty="0" smtClean="0">
                  <a:latin typeface="Montserrat" panose="00000500000000000000" pitchFamily="2" charset="0"/>
                </a:rPr>
                <a:t> do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atendimento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Redução</a:t>
              </a:r>
              <a:r>
                <a:rPr lang="en-GB" sz="1200" dirty="0" smtClean="0">
                  <a:latin typeface="Montserrat" panose="00000500000000000000" pitchFamily="2" charset="0"/>
                </a:rPr>
                <a:t> do tempo de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espera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Melhoria</a:t>
              </a:r>
              <a:r>
                <a:rPr lang="en-GB" sz="1200" dirty="0" smtClean="0">
                  <a:latin typeface="Montserrat" panose="00000500000000000000" pitchFamily="2" charset="0"/>
                </a:rPr>
                <a:t> da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continuidade</a:t>
              </a:r>
              <a:r>
                <a:rPr lang="en-GB" sz="1200" dirty="0" smtClean="0">
                  <a:latin typeface="Montserrat" panose="00000500000000000000" pitchFamily="2" charset="0"/>
                </a:rPr>
                <a:t> dos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cuidados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Redução</a:t>
              </a:r>
              <a:r>
                <a:rPr lang="en-GB" sz="1200" dirty="0" smtClean="0">
                  <a:latin typeface="Montserrat" panose="00000500000000000000" pitchFamily="2" charset="0"/>
                </a:rPr>
                <a:t> de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erros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associados</a:t>
              </a:r>
              <a:r>
                <a:rPr lang="en-GB" sz="1200" dirty="0" smtClean="0">
                  <a:latin typeface="Montserrat" panose="00000500000000000000" pitchFamily="2" charset="0"/>
                </a:rPr>
                <a:t> a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registos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manuais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Maior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segurança</a:t>
              </a:r>
              <a:r>
                <a:rPr lang="en-GB" sz="1200" dirty="0" smtClean="0">
                  <a:latin typeface="Montserrat" panose="00000500000000000000" pitchFamily="2" charset="0"/>
                </a:rPr>
                <a:t> das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informações</a:t>
              </a:r>
              <a:r>
                <a:rPr lang="en-GB" sz="1200" dirty="0" smtClean="0">
                  <a:latin typeface="Montserrat" panose="00000500000000000000" pitchFamily="2" charset="0"/>
                </a:rPr>
                <a:t> dos pacientes;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Melhoria</a:t>
              </a:r>
              <a:r>
                <a:rPr lang="en-GB" sz="1200" dirty="0" smtClean="0">
                  <a:latin typeface="Montserrat" panose="00000500000000000000" pitchFamily="2" charset="0"/>
                </a:rPr>
                <a:t> da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comunicação</a:t>
              </a:r>
              <a:r>
                <a:rPr lang="en-GB" sz="1200" dirty="0" smtClean="0">
                  <a:latin typeface="Montserrat" panose="00000500000000000000" pitchFamily="2" charset="0"/>
                </a:rPr>
                <a:t> entre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departamentos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Facilidade</a:t>
              </a:r>
              <a:r>
                <a:rPr lang="en-GB" sz="1200" dirty="0" smtClean="0">
                  <a:latin typeface="Montserrat" panose="00000500000000000000" pitchFamily="2" charset="0"/>
                </a:rPr>
                <a:t> de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localização</a:t>
              </a:r>
              <a:r>
                <a:rPr lang="en-GB" sz="1200" dirty="0" smtClean="0">
                  <a:latin typeface="Montserrat" panose="00000500000000000000" pitchFamily="2" charset="0"/>
                </a:rPr>
                <a:t> do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histórico</a:t>
              </a:r>
              <a:r>
                <a:rPr lang="en-GB" sz="1200" dirty="0" smtClean="0">
                  <a:latin typeface="Montserrat" panose="00000500000000000000" pitchFamily="2" charset="0"/>
                </a:rPr>
                <a:t> clínico;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Maior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eficiência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na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prestação</a:t>
              </a:r>
              <a:r>
                <a:rPr lang="en-GB" sz="1200" dirty="0" smtClean="0">
                  <a:latin typeface="Montserrat" panose="00000500000000000000" pitchFamily="2" charset="0"/>
                </a:rPr>
                <a:t> dos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serviços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Melhoria</a:t>
              </a:r>
              <a:r>
                <a:rPr lang="en-GB" sz="1200" dirty="0" smtClean="0">
                  <a:latin typeface="Montserrat" panose="00000500000000000000" pitchFamily="2" charset="0"/>
                </a:rPr>
                <a:t> da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experiência</a:t>
              </a:r>
              <a:r>
                <a:rPr lang="en-GB" sz="1200" dirty="0" smtClean="0">
                  <a:latin typeface="Montserrat" panose="00000500000000000000" pitchFamily="2" charset="0"/>
                </a:rPr>
                <a:t> do paciente;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Fortalecimento</a:t>
              </a:r>
              <a:r>
                <a:rPr lang="en-GB" sz="1200" dirty="0" smtClean="0">
                  <a:latin typeface="Montserrat" panose="00000500000000000000" pitchFamily="2" charset="0"/>
                </a:rPr>
                <a:t> da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confiança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nos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serviços</a:t>
              </a:r>
              <a:r>
                <a:rPr lang="en-GB" sz="1200" dirty="0" smtClean="0">
                  <a:latin typeface="Montserrat" panose="00000500000000000000" pitchFamily="2" charset="0"/>
                </a:rPr>
                <a:t> hospitalares.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r>
                <a:rPr lang="en-GB" sz="1200" dirty="0" smtClean="0">
                  <a:latin typeface="Montserrat" panose="00000500000000000000" pitchFamily="2" charset="0"/>
                </a:rPr>
                <a:t>A </a:t>
              </a:r>
              <a:r>
                <a:rPr lang="en-GB" sz="1200" dirty="0" err="1">
                  <a:latin typeface="Montserrat" panose="00000500000000000000" pitchFamily="2" charset="0"/>
                </a:rPr>
                <a:t>capacidade</a:t>
              </a:r>
              <a:r>
                <a:rPr lang="en-GB" sz="1200" dirty="0">
                  <a:latin typeface="Montserrat" panose="00000500000000000000" pitchFamily="2" charset="0"/>
                </a:rPr>
                <a:t> de </a:t>
              </a:r>
              <a:r>
                <a:rPr lang="en-GB" sz="1200" dirty="0" err="1">
                  <a:latin typeface="Montserrat" panose="00000500000000000000" pitchFamily="2" charset="0"/>
                </a:rPr>
                <a:t>funcionamento</a:t>
              </a:r>
              <a:r>
                <a:rPr lang="en-GB" sz="1200" dirty="0">
                  <a:latin typeface="Montserrat" panose="00000500000000000000" pitchFamily="2" charset="0"/>
                </a:rPr>
                <a:t> offline assume particular </a:t>
              </a:r>
              <a:r>
                <a:rPr lang="en-GB" sz="1200" dirty="0" err="1">
                  <a:latin typeface="Montserrat" panose="00000500000000000000" pitchFamily="2" charset="0"/>
                </a:rPr>
                <a:t>importância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em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regiões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onde</a:t>
              </a:r>
              <a:r>
                <a:rPr lang="en-GB" sz="1200" dirty="0">
                  <a:latin typeface="Montserrat" panose="00000500000000000000" pitchFamily="2" charset="0"/>
                </a:rPr>
                <a:t> a </a:t>
              </a:r>
              <a:r>
                <a:rPr lang="en-GB" sz="1200" dirty="0" err="1">
                  <a:latin typeface="Montserrat" panose="00000500000000000000" pitchFamily="2" charset="0"/>
                </a:rPr>
                <a:t>conectividade</a:t>
              </a:r>
              <a:r>
                <a:rPr lang="en-GB" sz="1200" dirty="0">
                  <a:latin typeface="Montserrat" panose="00000500000000000000" pitchFamily="2" charset="0"/>
                </a:rPr>
                <a:t> é </a:t>
              </a:r>
              <a:r>
                <a:rPr lang="en-GB" sz="1200" dirty="0" err="1">
                  <a:latin typeface="Montserrat" panose="00000500000000000000" pitchFamily="2" charset="0"/>
                </a:rPr>
                <a:t>limitada</a:t>
              </a:r>
              <a:r>
                <a:rPr lang="en-GB" sz="1200" dirty="0">
                  <a:latin typeface="Montserrat" panose="00000500000000000000" pitchFamily="2" charset="0"/>
                </a:rPr>
                <a:t>.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endParaRPr lang="pt-BR" sz="1200" dirty="0">
                <a:latin typeface="Montserrat" panose="00000500000000000000" pitchFamily="2" charset="0"/>
              </a:endParaRPr>
            </a:p>
            <a:p>
              <a:endParaRPr lang="pt-BR" sz="1200" dirty="0">
                <a:latin typeface="Montserrat" panose="00000500000000000000" pitchFamily="2" charset="0"/>
              </a:endParaRPr>
            </a:p>
            <a:p>
              <a:endParaRPr lang="pt-BR" sz="1200" dirty="0"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2703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6">
            <a:extLst>
              <a:ext uri="{FF2B5EF4-FFF2-40B4-BE49-F238E27FC236}">
                <a16:creationId xmlns:a16="http://schemas.microsoft.com/office/drawing/2014/main" xmlns="" id="{F6B015DA-3B88-86D3-BDE8-E142E39A30D5}"/>
              </a:ext>
            </a:extLst>
          </p:cNvPr>
          <p:cNvSpPr/>
          <p:nvPr/>
        </p:nvSpPr>
        <p:spPr>
          <a:xfrm>
            <a:off x="0" y="2102421"/>
            <a:ext cx="12192000" cy="47285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D9D27076-EA65-0E65-74EE-7F63440A17FD}"/>
              </a:ext>
            </a:extLst>
          </p:cNvPr>
          <p:cNvGrpSpPr/>
          <p:nvPr/>
        </p:nvGrpSpPr>
        <p:grpSpPr>
          <a:xfrm>
            <a:off x="461824" y="1847287"/>
            <a:ext cx="5509996" cy="4902648"/>
            <a:chOff x="3460437" y="3908974"/>
            <a:chExt cx="5340663" cy="2169994"/>
          </a:xfrm>
        </p:grpSpPr>
        <p:sp>
          <p:nvSpPr>
            <p:cNvPr id="2" name="Retângulo: Cantos Arredondados 1">
              <a:extLst>
                <a:ext uri="{FF2B5EF4-FFF2-40B4-BE49-F238E27FC236}">
                  <a16:creationId xmlns:a16="http://schemas.microsoft.com/office/drawing/2014/main" xmlns="" id="{6F6D4A10-446A-A7E7-342E-82208A0A15F5}"/>
                </a:ext>
              </a:extLst>
            </p:cNvPr>
            <p:cNvSpPr/>
            <p:nvPr/>
          </p:nvSpPr>
          <p:spPr>
            <a:xfrm>
              <a:off x="3460437" y="3908974"/>
              <a:ext cx="5340663" cy="2169994"/>
            </a:xfrm>
            <a:prstGeom prst="roundRect">
              <a:avLst>
                <a:gd name="adj" fmla="val 870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63500" dist="38100" dir="13440000">
                <a:prstClr val="black">
                  <a:alpha val="4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7" name="7 CuadroTexto">
              <a:extLst>
                <a:ext uri="{FF2B5EF4-FFF2-40B4-BE49-F238E27FC236}">
                  <a16:creationId xmlns:a16="http://schemas.microsoft.com/office/drawing/2014/main" xmlns="" id="{CB442FFA-A1F2-A903-29A5-580ADA5EA45E}"/>
                </a:ext>
              </a:extLst>
            </p:cNvPr>
            <p:cNvSpPr txBox="1"/>
            <p:nvPr/>
          </p:nvSpPr>
          <p:spPr>
            <a:xfrm>
              <a:off x="3700364" y="4058227"/>
              <a:ext cx="4860809" cy="18390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b="1" dirty="0" smtClean="0">
                  <a:latin typeface="Montserrat" panose="00000500000000000000" pitchFamily="2" charset="0"/>
                </a:rPr>
                <a:t>IMPACTO NA GESTÃO HOSPITALAR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r>
                <a:rPr lang="en-GB" sz="1200" dirty="0" smtClean="0">
                  <a:latin typeface="Montserrat" panose="00000500000000000000" pitchFamily="2" charset="0"/>
                </a:rPr>
                <a:t>O </a:t>
              </a:r>
              <a:r>
                <a:rPr lang="en-GB" sz="1200" dirty="0">
                  <a:latin typeface="Montserrat" panose="00000500000000000000" pitchFamily="2" charset="0"/>
                </a:rPr>
                <a:t>SIGH-ANGOLA deverá </a:t>
              </a:r>
              <a:r>
                <a:rPr lang="en-GB" sz="1200" dirty="0" err="1">
                  <a:latin typeface="Montserrat" panose="00000500000000000000" pitchFamily="2" charset="0"/>
                </a:rPr>
                <a:t>transformar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os</a:t>
              </a:r>
              <a:r>
                <a:rPr lang="en-GB" sz="1200" dirty="0">
                  <a:latin typeface="Montserrat" panose="00000500000000000000" pitchFamily="2" charset="0"/>
                </a:rPr>
                <a:t> dados </a:t>
              </a:r>
              <a:r>
                <a:rPr lang="en-GB" sz="1200" dirty="0" err="1">
                  <a:latin typeface="Montserrat" panose="00000500000000000000" pitchFamily="2" charset="0"/>
                </a:rPr>
                <a:t>produzidos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diariamente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pelos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diferentes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departamentos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em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informação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útil</a:t>
              </a:r>
              <a:r>
                <a:rPr lang="en-GB" sz="1200" dirty="0">
                  <a:latin typeface="Montserrat" panose="00000500000000000000" pitchFamily="2" charset="0"/>
                </a:rPr>
                <a:t> para a </a:t>
              </a:r>
              <a:r>
                <a:rPr lang="en-GB" sz="1200" dirty="0" err="1">
                  <a:latin typeface="Montserrat" panose="00000500000000000000" pitchFamily="2" charset="0"/>
                </a:rPr>
                <a:t>gestão</a:t>
              </a:r>
              <a:r>
                <a:rPr lang="en-GB" sz="1200" dirty="0">
                  <a:latin typeface="Montserrat" panose="00000500000000000000" pitchFamily="2" charset="0"/>
                </a:rPr>
                <a:t>.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r>
                <a:rPr lang="en-GB" sz="1200" dirty="0">
                  <a:latin typeface="Montserrat" panose="00000500000000000000" pitchFamily="2" charset="0"/>
                </a:rPr>
                <a:t>A </a:t>
              </a:r>
              <a:r>
                <a:rPr lang="en-GB" sz="1200" dirty="0" err="1">
                  <a:latin typeface="Montserrat" panose="00000500000000000000" pitchFamily="2" charset="0"/>
                </a:rPr>
                <a:t>direção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hospitalar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poderá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acompanhar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indicadores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relacionados</a:t>
              </a:r>
              <a:r>
                <a:rPr lang="en-GB" sz="1200" dirty="0">
                  <a:latin typeface="Montserrat" panose="00000500000000000000" pitchFamily="2" charset="0"/>
                </a:rPr>
                <a:t> com: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smtClean="0">
                  <a:latin typeface="Montserrat" panose="00000500000000000000" pitchFamily="2" charset="0"/>
                </a:rPr>
                <a:t>Consultas;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smtClean="0">
                  <a:latin typeface="Montserrat" panose="00000500000000000000" pitchFamily="2" charset="0"/>
                </a:rPr>
                <a:t>Internamentos;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Altas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Ocupação</a:t>
              </a:r>
              <a:r>
                <a:rPr lang="en-GB" sz="1200" dirty="0" smtClean="0">
                  <a:latin typeface="Montserrat" panose="00000500000000000000" pitchFamily="2" charset="0"/>
                </a:rPr>
                <a:t> de camas;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Mortalidade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Farmácia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Laboratório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Imagiologia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Recursos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humanos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Consumo</a:t>
              </a:r>
              <a:r>
                <a:rPr lang="en-GB" sz="1200" dirty="0" smtClean="0">
                  <a:latin typeface="Montserrat" panose="00000500000000000000" pitchFamily="2" charset="0"/>
                </a:rPr>
                <a:t> de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materiais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Produção</a:t>
              </a:r>
              <a:r>
                <a:rPr lang="en-GB" sz="1200" dirty="0" smtClean="0">
                  <a:latin typeface="Montserrat" panose="00000500000000000000" pitchFamily="2" charset="0"/>
                </a:rPr>
                <a:t> dos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serviços</a:t>
              </a:r>
              <a:r>
                <a:rPr lang="en-GB" sz="1200" dirty="0" smtClean="0">
                  <a:latin typeface="Montserrat" panose="00000500000000000000" pitchFamily="2" charset="0"/>
                </a:rPr>
                <a:t>.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r>
                <a:rPr lang="en-GB" sz="1200" dirty="0">
                  <a:latin typeface="Montserrat" panose="00000500000000000000" pitchFamily="2" charset="0"/>
                </a:rPr>
                <a:t>A </a:t>
              </a:r>
              <a:r>
                <a:rPr lang="en-GB" sz="1200" dirty="0" err="1">
                  <a:latin typeface="Montserrat" panose="00000500000000000000" pitchFamily="2" charset="0"/>
                </a:rPr>
                <a:t>disponibilização</a:t>
              </a:r>
              <a:r>
                <a:rPr lang="en-GB" sz="1200" dirty="0">
                  <a:latin typeface="Montserrat" panose="00000500000000000000" pitchFamily="2" charset="0"/>
                </a:rPr>
                <a:t> de dashboards e </a:t>
              </a:r>
              <a:r>
                <a:rPr lang="en-GB" sz="1200" dirty="0" err="1">
                  <a:latin typeface="Montserrat" panose="00000500000000000000" pitchFamily="2" charset="0"/>
                </a:rPr>
                <a:t>relatórios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poderá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reduzir</a:t>
              </a:r>
              <a:r>
                <a:rPr lang="en-GB" sz="1200" dirty="0">
                  <a:latin typeface="Montserrat" panose="00000500000000000000" pitchFamily="2" charset="0"/>
                </a:rPr>
                <a:t> a </a:t>
              </a:r>
              <a:r>
                <a:rPr lang="en-GB" sz="1200" dirty="0" err="1">
                  <a:latin typeface="Montserrat" panose="00000500000000000000" pitchFamily="2" charset="0"/>
                </a:rPr>
                <a:t>dependência</a:t>
              </a:r>
              <a:r>
                <a:rPr lang="en-GB" sz="1200" dirty="0">
                  <a:latin typeface="Montserrat" panose="00000500000000000000" pitchFamily="2" charset="0"/>
                </a:rPr>
                <a:t> de </a:t>
              </a:r>
              <a:r>
                <a:rPr lang="en-GB" sz="1200" dirty="0" err="1">
                  <a:latin typeface="Montserrat" panose="00000500000000000000" pitchFamily="2" charset="0"/>
                </a:rPr>
                <a:t>processos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manuais</a:t>
              </a:r>
              <a:r>
                <a:rPr lang="en-GB" sz="1200" dirty="0">
                  <a:latin typeface="Montserrat" panose="00000500000000000000" pitchFamily="2" charset="0"/>
                </a:rPr>
                <a:t> de </a:t>
              </a:r>
              <a:r>
                <a:rPr lang="en-GB" sz="1200" dirty="0" err="1">
                  <a:latin typeface="Montserrat" panose="00000500000000000000" pitchFamily="2" charset="0"/>
                </a:rPr>
                <a:t>compilação</a:t>
              </a:r>
              <a:r>
                <a:rPr lang="en-GB" sz="1200" dirty="0">
                  <a:latin typeface="Montserrat" panose="00000500000000000000" pitchFamily="2" charset="0"/>
                </a:rPr>
                <a:t> de </a:t>
              </a:r>
              <a:r>
                <a:rPr lang="en-GB" sz="1200" dirty="0" err="1">
                  <a:latin typeface="Montserrat" panose="00000500000000000000" pitchFamily="2" charset="0"/>
                </a:rPr>
                <a:t>informação</a:t>
              </a:r>
              <a:r>
                <a:rPr lang="en-GB" sz="1200" dirty="0">
                  <a:latin typeface="Montserrat" panose="00000500000000000000" pitchFamily="2" charset="0"/>
                </a:rPr>
                <a:t>.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r>
                <a:rPr lang="en-GB" sz="1200" dirty="0" err="1">
                  <a:latin typeface="Montserrat" panose="00000500000000000000" pitchFamily="2" charset="0"/>
                </a:rPr>
                <a:t>Consequentemente</a:t>
              </a:r>
              <a:r>
                <a:rPr lang="en-GB" sz="1200" dirty="0">
                  <a:latin typeface="Montserrat" panose="00000500000000000000" pitchFamily="2" charset="0"/>
                </a:rPr>
                <a:t>, </a:t>
              </a:r>
              <a:r>
                <a:rPr lang="en-GB" sz="1200" dirty="0" err="1">
                  <a:latin typeface="Montserrat" panose="00000500000000000000" pitchFamily="2" charset="0"/>
                </a:rPr>
                <a:t>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gestores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poderão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tomar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decisões</a:t>
              </a:r>
              <a:r>
                <a:rPr lang="en-GB" sz="1200" dirty="0">
                  <a:latin typeface="Montserrat" panose="00000500000000000000" pitchFamily="2" charset="0"/>
                </a:rPr>
                <a:t> com </a:t>
              </a:r>
              <a:r>
                <a:rPr lang="en-GB" sz="1200" dirty="0" err="1">
                  <a:latin typeface="Montserrat" panose="00000500000000000000" pitchFamily="2" charset="0"/>
                </a:rPr>
                <a:t>maior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rapidez</a:t>
              </a:r>
              <a:r>
                <a:rPr lang="en-GB" sz="1200" dirty="0">
                  <a:latin typeface="Montserrat" panose="00000500000000000000" pitchFamily="2" charset="0"/>
                </a:rPr>
                <a:t> e </a:t>
              </a:r>
              <a:r>
                <a:rPr lang="en-GB" sz="1200" dirty="0" err="1">
                  <a:latin typeface="Montserrat" panose="00000500000000000000" pitchFamily="2" charset="0"/>
                </a:rPr>
                <a:t>baseadas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em</a:t>
              </a:r>
              <a:r>
                <a:rPr lang="en-GB" sz="1200" dirty="0">
                  <a:latin typeface="Montserrat" panose="00000500000000000000" pitchFamily="2" charset="0"/>
                </a:rPr>
                <a:t> dados </a:t>
              </a:r>
              <a:r>
                <a:rPr lang="en-GB" sz="1200" dirty="0" err="1">
                  <a:latin typeface="Montserrat" panose="00000500000000000000" pitchFamily="2" charset="0"/>
                </a:rPr>
                <a:t>atualizados</a:t>
              </a:r>
              <a:r>
                <a:rPr lang="en-GB" sz="1200" dirty="0">
                  <a:latin typeface="Montserrat" panose="00000500000000000000" pitchFamily="2" charset="0"/>
                </a:rPr>
                <a:t>.</a:t>
              </a:r>
              <a:endParaRPr lang="pt-BR" sz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65094661-9300-275B-0538-92390105F02E}"/>
              </a:ext>
            </a:extLst>
          </p:cNvPr>
          <p:cNvSpPr txBox="1"/>
          <p:nvPr/>
        </p:nvSpPr>
        <p:spPr>
          <a:xfrm>
            <a:off x="805015" y="729105"/>
            <a:ext cx="6096000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</a:pPr>
            <a:r>
              <a:rPr lang="en-GB" sz="2400" b="1" dirty="0">
                <a:latin typeface="Montserrat" panose="00000500000000000000" pitchFamily="2" charset="0"/>
              </a:rPr>
              <a:t>IMPACTO FINANCEIRO, SOCIAL E NO DESENVOLVIMENTO HOSPITALAR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BBA29194-FF6B-2C5A-8B5B-D5EDA9E6FECF}"/>
              </a:ext>
            </a:extLst>
          </p:cNvPr>
          <p:cNvSpPr/>
          <p:nvPr/>
        </p:nvSpPr>
        <p:spPr>
          <a:xfrm>
            <a:off x="759296" y="779458"/>
            <a:ext cx="45719" cy="436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7" name="Agrupar 66">
            <a:extLst>
              <a:ext uri="{FF2B5EF4-FFF2-40B4-BE49-F238E27FC236}">
                <a16:creationId xmlns:a16="http://schemas.microsoft.com/office/drawing/2014/main" xmlns="" id="{DF0DE179-0713-31DB-E70A-5BBD871E183C}"/>
              </a:ext>
            </a:extLst>
          </p:cNvPr>
          <p:cNvGrpSpPr/>
          <p:nvPr/>
        </p:nvGrpSpPr>
        <p:grpSpPr>
          <a:xfrm>
            <a:off x="6180155" y="1843375"/>
            <a:ext cx="5509996" cy="4906557"/>
            <a:chOff x="3460437" y="3908974"/>
            <a:chExt cx="5340663" cy="2169994"/>
          </a:xfrm>
        </p:grpSpPr>
        <p:sp>
          <p:nvSpPr>
            <p:cNvPr id="68" name="Retângulo: Cantos Arredondados 67">
              <a:extLst>
                <a:ext uri="{FF2B5EF4-FFF2-40B4-BE49-F238E27FC236}">
                  <a16:creationId xmlns:a16="http://schemas.microsoft.com/office/drawing/2014/main" xmlns="" id="{B7BFCC6B-E45E-7B4B-E8F9-67DAB1773613}"/>
                </a:ext>
              </a:extLst>
            </p:cNvPr>
            <p:cNvSpPr/>
            <p:nvPr/>
          </p:nvSpPr>
          <p:spPr>
            <a:xfrm>
              <a:off x="3460437" y="3908974"/>
              <a:ext cx="5340663" cy="2169994"/>
            </a:xfrm>
            <a:prstGeom prst="roundRect">
              <a:avLst>
                <a:gd name="adj" fmla="val 870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63500" dist="38100" dir="13440000">
                <a:prstClr val="black">
                  <a:alpha val="4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69" name="7 CuadroTexto">
              <a:extLst>
                <a:ext uri="{FF2B5EF4-FFF2-40B4-BE49-F238E27FC236}">
                  <a16:creationId xmlns:a16="http://schemas.microsoft.com/office/drawing/2014/main" xmlns="" id="{B26354EF-960E-61BA-A40B-991D7EA05880}"/>
                </a:ext>
              </a:extLst>
            </p:cNvPr>
            <p:cNvSpPr txBox="1"/>
            <p:nvPr/>
          </p:nvSpPr>
          <p:spPr>
            <a:xfrm>
              <a:off x="3700363" y="3968202"/>
              <a:ext cx="4860809" cy="182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ts val="1280"/>
                </a:lnSpc>
                <a:defRPr/>
              </a:pPr>
              <a:endParaRPr lang="en-US" sz="120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  <a:ea typeface="Roboto" panose="02000000000000000000" pitchFamily="2" charset="0"/>
                <a:cs typeface="Lato" charset="0"/>
              </a:endParaRPr>
            </a:p>
            <a:p>
              <a:r>
                <a:rPr lang="en-GB" sz="1200" b="1" dirty="0" smtClean="0">
                  <a:latin typeface="Montserrat" panose="00000500000000000000" pitchFamily="2" charset="0"/>
                </a:rPr>
                <a:t>IMPACTO NA ESTATÍSTICA HOSPITALAR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r>
                <a:rPr lang="en-GB" sz="1200" dirty="0" err="1" smtClean="0">
                  <a:latin typeface="Montserrat" panose="00000500000000000000" pitchFamily="2" charset="0"/>
                </a:rPr>
                <a:t>Considerando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>
                  <a:latin typeface="Montserrat" panose="00000500000000000000" pitchFamily="2" charset="0"/>
                </a:rPr>
                <a:t>a </a:t>
              </a:r>
              <a:r>
                <a:rPr lang="en-GB" sz="1200" dirty="0" err="1">
                  <a:latin typeface="Montserrat" panose="00000500000000000000" pitchFamily="2" charset="0"/>
                </a:rPr>
                <a:t>importância</a:t>
              </a:r>
              <a:r>
                <a:rPr lang="en-GB" sz="1200" dirty="0">
                  <a:latin typeface="Montserrat" panose="00000500000000000000" pitchFamily="2" charset="0"/>
                </a:rPr>
                <a:t> da </a:t>
              </a:r>
              <a:r>
                <a:rPr lang="en-GB" sz="1200" dirty="0" err="1">
                  <a:latin typeface="Montserrat" panose="00000500000000000000" pitchFamily="2" charset="0"/>
                </a:rPr>
                <a:t>estatística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hospitalar</a:t>
              </a:r>
              <a:r>
                <a:rPr lang="en-GB" sz="1200" dirty="0">
                  <a:latin typeface="Montserrat" panose="00000500000000000000" pitchFamily="2" charset="0"/>
                </a:rPr>
                <a:t> para o </a:t>
              </a:r>
              <a:r>
                <a:rPr lang="en-GB" sz="1200" dirty="0" err="1">
                  <a:latin typeface="Montserrat" panose="00000500000000000000" pitchFamily="2" charset="0"/>
                </a:rPr>
                <a:t>planeamento</a:t>
              </a:r>
              <a:r>
                <a:rPr lang="en-GB" sz="1200" dirty="0">
                  <a:latin typeface="Montserrat" panose="00000500000000000000" pitchFamily="2" charset="0"/>
                </a:rPr>
                <a:t> e </a:t>
              </a:r>
              <a:r>
                <a:rPr lang="en-GB" sz="1200" dirty="0" err="1">
                  <a:latin typeface="Montserrat" panose="00000500000000000000" pitchFamily="2" charset="0"/>
                </a:rPr>
                <a:t>avaliação</a:t>
              </a:r>
              <a:r>
                <a:rPr lang="en-GB" sz="1200" dirty="0">
                  <a:latin typeface="Montserrat" panose="00000500000000000000" pitchFamily="2" charset="0"/>
                </a:rPr>
                <a:t> dos </a:t>
              </a:r>
              <a:r>
                <a:rPr lang="en-GB" sz="1200" dirty="0" err="1">
                  <a:latin typeface="Montserrat" panose="00000500000000000000" pitchFamily="2" charset="0"/>
                </a:rPr>
                <a:t>serviços</a:t>
              </a:r>
              <a:r>
                <a:rPr lang="en-GB" sz="1200" dirty="0">
                  <a:latin typeface="Montserrat" panose="00000500000000000000" pitchFamily="2" charset="0"/>
                </a:rPr>
                <a:t>, o SIGH-ANGOLA deverá </a:t>
              </a:r>
              <a:r>
                <a:rPr lang="en-GB" sz="1200" dirty="0" err="1">
                  <a:latin typeface="Montserrat" panose="00000500000000000000" pitchFamily="2" charset="0"/>
                </a:rPr>
                <a:t>integrar</a:t>
              </a:r>
              <a:r>
                <a:rPr lang="en-GB" sz="1200" dirty="0">
                  <a:latin typeface="Montserrat" panose="00000500000000000000" pitchFamily="2" charset="0"/>
                </a:rPr>
                <a:t> a </a:t>
              </a:r>
              <a:r>
                <a:rPr lang="en-GB" sz="1200" dirty="0" err="1">
                  <a:latin typeface="Montserrat" panose="00000500000000000000" pitchFamily="2" charset="0"/>
                </a:rPr>
                <a:t>produção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estatística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diretamente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nos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processos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operacionais</a:t>
              </a:r>
              <a:r>
                <a:rPr lang="en-GB" sz="1200" dirty="0">
                  <a:latin typeface="Montserrat" panose="00000500000000000000" pitchFamily="2" charset="0"/>
                </a:rPr>
                <a:t>.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r>
                <a:rPr lang="en-GB" sz="1200" dirty="0">
                  <a:latin typeface="Montserrat" panose="00000500000000000000" pitchFamily="2" charset="0"/>
                </a:rPr>
                <a:t>O </a:t>
              </a:r>
              <a:r>
                <a:rPr lang="en-GB" sz="1200" dirty="0" err="1">
                  <a:latin typeface="Montserrat" panose="00000500000000000000" pitchFamily="2" charset="0"/>
                </a:rPr>
                <a:t>princípio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será</a:t>
              </a:r>
              <a:r>
                <a:rPr lang="en-GB" sz="1200" dirty="0">
                  <a:latin typeface="Montserrat" panose="00000500000000000000" pitchFamily="2" charset="0"/>
                </a:rPr>
                <a:t>: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r>
                <a:rPr lang="en-GB" sz="1200" b="1" dirty="0">
                  <a:latin typeface="Montserrat" panose="00000500000000000000" pitchFamily="2" charset="0"/>
                </a:rPr>
                <a:t>REGISTO → DADO → INFORMAÇÃO → INDICADOR → ANÁLISE → DECISÃO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r>
                <a:rPr lang="en-GB" sz="1200" dirty="0" err="1">
                  <a:latin typeface="Montserrat" panose="00000500000000000000" pitchFamily="2" charset="0"/>
                </a:rPr>
                <a:t>Em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vez</a:t>
              </a:r>
              <a:r>
                <a:rPr lang="en-GB" sz="1200" dirty="0">
                  <a:latin typeface="Montserrat" panose="00000500000000000000" pitchFamily="2" charset="0"/>
                </a:rPr>
                <a:t> de o </a:t>
              </a:r>
              <a:r>
                <a:rPr lang="en-GB" sz="1200" dirty="0" err="1">
                  <a:latin typeface="Montserrat" panose="00000500000000000000" pitchFamily="2" charset="0"/>
                </a:rPr>
                <a:t>profissional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registar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uma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informação</a:t>
              </a:r>
              <a:r>
                <a:rPr lang="en-GB" sz="1200" dirty="0">
                  <a:latin typeface="Montserrat" panose="00000500000000000000" pitchFamily="2" charset="0"/>
                </a:rPr>
                <a:t> e </a:t>
              </a:r>
              <a:r>
                <a:rPr lang="en-GB" sz="1200" dirty="0" err="1">
                  <a:latin typeface="Montserrat" panose="00000500000000000000" pitchFamily="2" charset="0"/>
                </a:rPr>
                <a:t>posteriormente</a:t>
              </a:r>
              <a:r>
                <a:rPr lang="en-GB" sz="1200" dirty="0">
                  <a:latin typeface="Montserrat" panose="00000500000000000000" pitchFamily="2" charset="0"/>
                </a:rPr>
                <a:t> outro </a:t>
              </a:r>
              <a:r>
                <a:rPr lang="en-GB" sz="1200" dirty="0" err="1">
                  <a:latin typeface="Montserrat" panose="00000500000000000000" pitchFamily="2" charset="0"/>
                </a:rPr>
                <a:t>funcionário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transcrever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esses</a:t>
              </a:r>
              <a:r>
                <a:rPr lang="en-GB" sz="1200" dirty="0">
                  <a:latin typeface="Montserrat" panose="00000500000000000000" pitchFamily="2" charset="0"/>
                </a:rPr>
                <a:t> dados para </a:t>
              </a:r>
              <a:r>
                <a:rPr lang="en-GB" sz="1200" dirty="0" err="1">
                  <a:latin typeface="Montserrat" panose="00000500000000000000" pitchFamily="2" charset="0"/>
                </a:rPr>
                <a:t>produzir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estatísticas</a:t>
              </a:r>
              <a:r>
                <a:rPr lang="en-GB" sz="1200" dirty="0">
                  <a:latin typeface="Montserrat" panose="00000500000000000000" pitchFamily="2" charset="0"/>
                </a:rPr>
                <a:t>, o sistema deverá </a:t>
              </a:r>
              <a:r>
                <a:rPr lang="en-GB" sz="1200" dirty="0" err="1">
                  <a:latin typeface="Montserrat" panose="00000500000000000000" pitchFamily="2" charset="0"/>
                </a:rPr>
                <a:t>aproveitar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os</a:t>
              </a:r>
              <a:r>
                <a:rPr lang="en-GB" sz="1200" dirty="0">
                  <a:latin typeface="Montserrat" panose="00000500000000000000" pitchFamily="2" charset="0"/>
                </a:rPr>
                <a:t> dados </a:t>
              </a:r>
              <a:r>
                <a:rPr lang="en-GB" sz="1200" dirty="0" err="1">
                  <a:latin typeface="Montserrat" panose="00000500000000000000" pitchFamily="2" charset="0"/>
                </a:rPr>
                <a:t>já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introduzidos</a:t>
              </a:r>
              <a:r>
                <a:rPr lang="en-GB" sz="1200" dirty="0">
                  <a:latin typeface="Montserrat" panose="00000500000000000000" pitchFamily="2" charset="0"/>
                </a:rPr>
                <a:t> </a:t>
              </a:r>
              <a:r>
                <a:rPr lang="en-GB" sz="1200" dirty="0" err="1">
                  <a:latin typeface="Montserrat" panose="00000500000000000000" pitchFamily="2" charset="0"/>
                </a:rPr>
                <a:t>durante</a:t>
              </a:r>
              <a:r>
                <a:rPr lang="en-GB" sz="1200" dirty="0">
                  <a:latin typeface="Montserrat" panose="00000500000000000000" pitchFamily="2" charset="0"/>
                </a:rPr>
                <a:t> a </a:t>
              </a:r>
              <a:r>
                <a:rPr lang="en-GB" sz="1200" dirty="0" err="1">
                  <a:latin typeface="Montserrat" panose="00000500000000000000" pitchFamily="2" charset="0"/>
                </a:rPr>
                <a:t>prestação</a:t>
              </a:r>
              <a:r>
                <a:rPr lang="en-GB" sz="1200" dirty="0">
                  <a:latin typeface="Montserrat" panose="00000500000000000000" pitchFamily="2" charset="0"/>
                </a:rPr>
                <a:t> do </a:t>
              </a:r>
              <a:r>
                <a:rPr lang="en-GB" sz="1200" dirty="0" err="1">
                  <a:latin typeface="Montserrat" panose="00000500000000000000" pitchFamily="2" charset="0"/>
                </a:rPr>
                <a:t>serviço</a:t>
              </a:r>
              <a:r>
                <a:rPr lang="en-GB" sz="1200" dirty="0">
                  <a:latin typeface="Montserrat" panose="00000500000000000000" pitchFamily="2" charset="0"/>
                </a:rPr>
                <a:t>.</a:t>
              </a:r>
              <a:endParaRPr lang="pt-BR" sz="1200" dirty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Isso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poderá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contribuir</a:t>
              </a:r>
              <a:r>
                <a:rPr lang="en-GB" sz="1200" dirty="0" smtClean="0">
                  <a:latin typeface="Montserrat" panose="00000500000000000000" pitchFamily="2" charset="0"/>
                </a:rPr>
                <a:t> para: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Redução</a:t>
              </a:r>
              <a:r>
                <a:rPr lang="en-GB" sz="1200" dirty="0" smtClean="0">
                  <a:latin typeface="Montserrat" panose="00000500000000000000" pitchFamily="2" charset="0"/>
                </a:rPr>
                <a:t> de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erros</a:t>
              </a:r>
              <a:r>
                <a:rPr lang="en-GB" sz="1200" dirty="0" smtClean="0">
                  <a:latin typeface="Montserrat" panose="00000500000000000000" pitchFamily="2" charset="0"/>
                </a:rPr>
                <a:t> de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transcrição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Melhoria</a:t>
              </a:r>
              <a:r>
                <a:rPr lang="en-GB" sz="1200" dirty="0" smtClean="0">
                  <a:latin typeface="Montserrat" panose="00000500000000000000" pitchFamily="2" charset="0"/>
                </a:rPr>
                <a:t> da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completude</a:t>
              </a:r>
              <a:r>
                <a:rPr lang="en-GB" sz="1200" dirty="0" smtClean="0">
                  <a:latin typeface="Montserrat" panose="00000500000000000000" pitchFamily="2" charset="0"/>
                </a:rPr>
                <a:t> dos dados;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Redução</a:t>
              </a:r>
              <a:r>
                <a:rPr lang="en-GB" sz="1200" dirty="0" smtClean="0">
                  <a:latin typeface="Montserrat" panose="00000500000000000000" pitchFamily="2" charset="0"/>
                </a:rPr>
                <a:t> do tempo de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produção</a:t>
              </a:r>
              <a:r>
                <a:rPr lang="en-GB" sz="1200" dirty="0" smtClean="0">
                  <a:latin typeface="Montserrat" panose="00000500000000000000" pitchFamily="2" charset="0"/>
                </a:rPr>
                <a:t> dos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relatórios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Maior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disponibilidade</a:t>
              </a:r>
              <a:r>
                <a:rPr lang="en-GB" sz="1200" dirty="0" smtClean="0">
                  <a:latin typeface="Montserrat" panose="00000500000000000000" pitchFamily="2" charset="0"/>
                </a:rPr>
                <a:t> de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indicadores</a:t>
              </a:r>
              <a:r>
                <a:rPr lang="en-GB" sz="1200" dirty="0" smtClean="0">
                  <a:latin typeface="Montserrat" panose="00000500000000000000" pitchFamily="2" charset="0"/>
                </a:rPr>
                <a:t>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Padronização</a:t>
              </a:r>
              <a:r>
                <a:rPr lang="en-GB" sz="1200" dirty="0" smtClean="0">
                  <a:latin typeface="Montserrat" panose="00000500000000000000" pitchFamily="2" charset="0"/>
                </a:rPr>
                <a:t> dos dados;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 smtClean="0">
                  <a:latin typeface="Montserrat" panose="00000500000000000000" pitchFamily="2" charset="0"/>
                </a:rPr>
                <a:t>Melhoria</a:t>
              </a:r>
              <a:r>
                <a:rPr lang="en-GB" sz="1200" dirty="0" smtClean="0">
                  <a:latin typeface="Montserrat" panose="00000500000000000000" pitchFamily="2" charset="0"/>
                </a:rPr>
                <a:t> da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qualidade</a:t>
              </a:r>
              <a:r>
                <a:rPr lang="en-GB" sz="1200" dirty="0" smtClean="0">
                  <a:latin typeface="Montserrat" panose="00000500000000000000" pitchFamily="2" charset="0"/>
                </a:rPr>
                <a:t> da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informação</a:t>
              </a:r>
              <a:r>
                <a:rPr lang="en-GB" sz="1200" dirty="0" smtClean="0">
                  <a:latin typeface="Montserrat" panose="00000500000000000000" pitchFamily="2" charset="0"/>
                </a:rPr>
                <a:t> </a:t>
              </a:r>
              <a:r>
                <a:rPr lang="en-GB" sz="1200" dirty="0" err="1" smtClean="0">
                  <a:latin typeface="Montserrat" panose="00000500000000000000" pitchFamily="2" charset="0"/>
                </a:rPr>
                <a:t>hospitalar</a:t>
              </a:r>
              <a:r>
                <a:rPr lang="en-GB" sz="1200" dirty="0" smtClean="0">
                  <a:latin typeface="Montserrat" panose="00000500000000000000" pitchFamily="2" charset="0"/>
                </a:rPr>
                <a:t>.</a:t>
              </a:r>
              <a:endParaRPr lang="pt-BR" sz="1200" dirty="0" smtClean="0">
                <a:latin typeface="Montserrat" panose="00000500000000000000" pitchFamily="2" charset="0"/>
              </a:endParaRPr>
            </a:p>
            <a:p>
              <a:endParaRPr lang="pt-BR" sz="1200" dirty="0">
                <a:latin typeface="Montserrat" panose="00000500000000000000" pitchFamily="2" charset="0"/>
              </a:endParaRPr>
            </a:p>
            <a:p>
              <a:endParaRPr lang="pt-BR" sz="1200" dirty="0"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5303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3368D762-5A05-D492-8B1A-E835431B4507}"/>
              </a:ext>
            </a:extLst>
          </p:cNvPr>
          <p:cNvSpPr/>
          <p:nvPr/>
        </p:nvSpPr>
        <p:spPr>
          <a:xfrm>
            <a:off x="6671" y="-1"/>
            <a:ext cx="12192000" cy="1446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Freeform 37">
            <a:extLst>
              <a:ext uri="{FF2B5EF4-FFF2-40B4-BE49-F238E27FC236}">
                <a16:creationId xmlns:a16="http://schemas.microsoft.com/office/drawing/2014/main" xmlns="" id="{2DB1B34D-8518-2DED-6CC6-8FE599863F90}"/>
              </a:ext>
            </a:extLst>
          </p:cNvPr>
          <p:cNvSpPr>
            <a:spLocks/>
          </p:cNvSpPr>
          <p:nvPr/>
        </p:nvSpPr>
        <p:spPr bwMode="auto">
          <a:xfrm>
            <a:off x="4611747" y="2110609"/>
            <a:ext cx="1879896" cy="1734242"/>
          </a:xfrm>
          <a:custGeom>
            <a:avLst/>
            <a:gdLst>
              <a:gd name="connsiteX0" fmla="*/ 972809 w 1941453"/>
              <a:gd name="connsiteY0" fmla="*/ 33 h 1792451"/>
              <a:gd name="connsiteX1" fmla="*/ 1261988 w 1941453"/>
              <a:gd name="connsiteY1" fmla="*/ 47067 h 1792451"/>
              <a:gd name="connsiteX2" fmla="*/ 1897451 w 1941453"/>
              <a:gd name="connsiteY2" fmla="*/ 1260722 h 1792451"/>
              <a:gd name="connsiteX3" fmla="*/ 1484745 w 1941453"/>
              <a:gd name="connsiteY3" fmla="*/ 1792451 h 1792451"/>
              <a:gd name="connsiteX4" fmla="*/ 906266 w 1941453"/>
              <a:gd name="connsiteY4" fmla="*/ 1338410 h 1792451"/>
              <a:gd name="connsiteX5" fmla="*/ 108483 w 1941453"/>
              <a:gd name="connsiteY5" fmla="*/ 1416097 h 1792451"/>
              <a:gd name="connsiteX6" fmla="*/ 44591 w 1941453"/>
              <a:gd name="connsiteY6" fmla="*/ 677201 h 1792451"/>
              <a:gd name="connsiteX7" fmla="*/ 972809 w 1941453"/>
              <a:gd name="connsiteY7" fmla="*/ 33 h 1792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41453" h="1792451">
                <a:moveTo>
                  <a:pt x="972809" y="33"/>
                </a:moveTo>
                <a:cubicBezTo>
                  <a:pt x="1068512" y="819"/>
                  <a:pt x="1165827" y="15992"/>
                  <a:pt x="1261988" y="47067"/>
                </a:cubicBezTo>
                <a:cubicBezTo>
                  <a:pt x="1771395" y="205895"/>
                  <a:pt x="2056317" y="751436"/>
                  <a:pt x="1897451" y="1260722"/>
                </a:cubicBezTo>
                <a:cubicBezTo>
                  <a:pt x="1823199" y="1493785"/>
                  <a:pt x="1672967" y="1675056"/>
                  <a:pt x="1484745" y="1792451"/>
                </a:cubicBezTo>
                <a:cubicBezTo>
                  <a:pt x="1358689" y="1585284"/>
                  <a:pt x="1160106" y="1419550"/>
                  <a:pt x="906266" y="1338410"/>
                </a:cubicBezTo>
                <a:cubicBezTo>
                  <a:pt x="629977" y="1252090"/>
                  <a:pt x="345055" y="1291797"/>
                  <a:pt x="108483" y="1416097"/>
                </a:cubicBezTo>
                <a:cubicBezTo>
                  <a:pt x="-2033" y="1198572"/>
                  <a:pt x="-36569" y="930981"/>
                  <a:pt x="44591" y="677201"/>
                </a:cubicBezTo>
                <a:cubicBezTo>
                  <a:pt x="173670" y="263405"/>
                  <a:pt x="558100" y="-3370"/>
                  <a:pt x="972809" y="33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0" tIns="0" rIns="0" bIns="18288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xmlns="" id="{3AF394AC-6A08-5B4A-8357-0CE8B16C3F6B}"/>
              </a:ext>
            </a:extLst>
          </p:cNvPr>
          <p:cNvSpPr>
            <a:spLocks/>
          </p:cNvSpPr>
          <p:nvPr/>
        </p:nvSpPr>
        <p:spPr bwMode="auto">
          <a:xfrm>
            <a:off x="6102671" y="2495036"/>
            <a:ext cx="1737860" cy="1878447"/>
          </a:xfrm>
          <a:custGeom>
            <a:avLst/>
            <a:gdLst>
              <a:gd name="connsiteX0" fmla="*/ 829217 w 1794766"/>
              <a:gd name="connsiteY0" fmla="*/ 1 h 1941497"/>
              <a:gd name="connsiteX1" fmla="*/ 1117248 w 1794766"/>
              <a:gd name="connsiteY1" fmla="*/ 43832 h 1941497"/>
              <a:gd name="connsiteX2" fmla="*/ 1747534 w 1794766"/>
              <a:gd name="connsiteY2" fmla="*/ 1262956 h 1941497"/>
              <a:gd name="connsiteX3" fmla="*/ 531858 w 1794766"/>
              <a:gd name="connsiteY3" fmla="*/ 1896692 h 1941497"/>
              <a:gd name="connsiteX4" fmla="*/ 0 w 1794766"/>
              <a:gd name="connsiteY4" fmla="*/ 1482260 h 1941497"/>
              <a:gd name="connsiteX5" fmla="*/ 454152 w 1794766"/>
              <a:gd name="connsiteY5" fmla="*/ 905507 h 1941497"/>
              <a:gd name="connsiteX6" fmla="*/ 378172 w 1794766"/>
              <a:gd name="connsiteY6" fmla="*/ 107724 h 1941497"/>
              <a:gd name="connsiteX7" fmla="*/ 829217 w 1794766"/>
              <a:gd name="connsiteY7" fmla="*/ 1 h 1941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4766" h="1941497">
                <a:moveTo>
                  <a:pt x="829217" y="1"/>
                </a:moveTo>
                <a:cubicBezTo>
                  <a:pt x="924924" y="41"/>
                  <a:pt x="1022057" y="14045"/>
                  <a:pt x="1117248" y="43832"/>
                </a:cubicBezTo>
                <a:cubicBezTo>
                  <a:pt x="1628384" y="204425"/>
                  <a:pt x="1913308" y="750095"/>
                  <a:pt x="1747534" y="1262956"/>
                </a:cubicBezTo>
                <a:cubicBezTo>
                  <a:pt x="1585214" y="1772363"/>
                  <a:pt x="1041268" y="2057285"/>
                  <a:pt x="531858" y="1896692"/>
                </a:cubicBezTo>
                <a:cubicBezTo>
                  <a:pt x="297012" y="1822440"/>
                  <a:pt x="117423" y="1672208"/>
                  <a:pt x="0" y="1482260"/>
                </a:cubicBezTo>
                <a:cubicBezTo>
                  <a:pt x="207218" y="1357930"/>
                  <a:pt x="374718" y="1159347"/>
                  <a:pt x="454152" y="905507"/>
                </a:cubicBezTo>
                <a:cubicBezTo>
                  <a:pt x="542219" y="629219"/>
                  <a:pt x="502503" y="344296"/>
                  <a:pt x="378172" y="107724"/>
                </a:cubicBezTo>
                <a:cubicBezTo>
                  <a:pt x="514158" y="38652"/>
                  <a:pt x="669706" y="-67"/>
                  <a:pt x="829217" y="1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8288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W</a:t>
            </a:r>
          </a:p>
        </p:txBody>
      </p:sp>
      <p:sp>
        <p:nvSpPr>
          <p:cNvPr id="4" name="Freeform 39">
            <a:extLst>
              <a:ext uri="{FF2B5EF4-FFF2-40B4-BE49-F238E27FC236}">
                <a16:creationId xmlns:a16="http://schemas.microsoft.com/office/drawing/2014/main" xmlns="" id="{0E382ED2-786A-E1D3-CA91-57FAD9D97AB4}"/>
              </a:ext>
            </a:extLst>
          </p:cNvPr>
          <p:cNvSpPr>
            <a:spLocks/>
          </p:cNvSpPr>
          <p:nvPr/>
        </p:nvSpPr>
        <p:spPr bwMode="auto">
          <a:xfrm>
            <a:off x="4232675" y="3457200"/>
            <a:ext cx="1733694" cy="1878306"/>
          </a:xfrm>
          <a:custGeom>
            <a:avLst/>
            <a:gdLst>
              <a:gd name="connsiteX0" fmla="*/ 967388 w 1790464"/>
              <a:gd name="connsiteY0" fmla="*/ 9 h 1941350"/>
              <a:gd name="connsiteX1" fmla="*/ 1255337 w 1790464"/>
              <a:gd name="connsiteY1" fmla="*/ 42886 h 1941350"/>
              <a:gd name="connsiteX2" fmla="*/ 1790464 w 1790464"/>
              <a:gd name="connsiteY2" fmla="*/ 452191 h 1941350"/>
              <a:gd name="connsiteX3" fmla="*/ 1339922 w 1790464"/>
              <a:gd name="connsiteY3" fmla="*/ 1034198 h 1941350"/>
              <a:gd name="connsiteX4" fmla="*/ 1421054 w 1790464"/>
              <a:gd name="connsiteY4" fmla="*/ 1830356 h 1941350"/>
              <a:gd name="connsiteX5" fmla="*/ 682234 w 1790464"/>
              <a:gd name="connsiteY5" fmla="*/ 1899437 h 1941350"/>
              <a:gd name="connsiteX6" fmla="*/ 45260 w 1790464"/>
              <a:gd name="connsiteY6" fmla="*/ 685339 h 1941350"/>
              <a:gd name="connsiteX7" fmla="*/ 967388 w 1790464"/>
              <a:gd name="connsiteY7" fmla="*/ 9 h 19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0464" h="1941350">
                <a:moveTo>
                  <a:pt x="967388" y="9"/>
                </a:moveTo>
                <a:cubicBezTo>
                  <a:pt x="1062635" y="-384"/>
                  <a:pt x="1159532" y="13419"/>
                  <a:pt x="1255337" y="42886"/>
                </a:cubicBezTo>
                <a:cubicBezTo>
                  <a:pt x="1490103" y="113694"/>
                  <a:pt x="1671355" y="263945"/>
                  <a:pt x="1790464" y="452191"/>
                </a:cubicBezTo>
                <a:cubicBezTo>
                  <a:pt x="1583318" y="578264"/>
                  <a:pt x="1417602" y="778599"/>
                  <a:pt x="1339922" y="1034198"/>
                </a:cubicBezTo>
                <a:cubicBezTo>
                  <a:pt x="1253611" y="1308795"/>
                  <a:pt x="1295040" y="1593754"/>
                  <a:pt x="1421054" y="1830356"/>
                </a:cubicBezTo>
                <a:cubicBezTo>
                  <a:pt x="1203551" y="1942613"/>
                  <a:pt x="937714" y="1977153"/>
                  <a:pt x="682234" y="1899437"/>
                </a:cubicBezTo>
                <a:cubicBezTo>
                  <a:pt x="171274" y="1742278"/>
                  <a:pt x="-117004" y="1198265"/>
                  <a:pt x="45260" y="685339"/>
                </a:cubicBezTo>
                <a:cubicBezTo>
                  <a:pt x="172892" y="269990"/>
                  <a:pt x="554650" y="1714"/>
                  <a:pt x="967388" y="9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0" tIns="0" rIns="182880" bIns="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O</a:t>
            </a:r>
          </a:p>
        </p:txBody>
      </p:sp>
      <p:sp>
        <p:nvSpPr>
          <p:cNvPr id="5" name="Freeform 40">
            <a:extLst>
              <a:ext uri="{FF2B5EF4-FFF2-40B4-BE49-F238E27FC236}">
                <a16:creationId xmlns:a16="http://schemas.microsoft.com/office/drawing/2014/main" xmlns="" id="{B0EF4F32-A495-6283-951F-7529143C64CF}"/>
              </a:ext>
            </a:extLst>
          </p:cNvPr>
          <p:cNvSpPr>
            <a:spLocks/>
          </p:cNvSpPr>
          <p:nvPr/>
        </p:nvSpPr>
        <p:spPr bwMode="auto">
          <a:xfrm>
            <a:off x="5587803" y="3980617"/>
            <a:ext cx="1880376" cy="1732982"/>
          </a:xfrm>
          <a:custGeom>
            <a:avLst/>
            <a:gdLst>
              <a:gd name="connsiteX0" fmla="*/ 453860 w 1941949"/>
              <a:gd name="connsiteY0" fmla="*/ 0 h 1791149"/>
              <a:gd name="connsiteX1" fmla="*/ 1034066 w 1941949"/>
              <a:gd name="connsiteY1" fmla="*/ 450715 h 1791149"/>
              <a:gd name="connsiteX2" fmla="*/ 1831849 w 1941949"/>
              <a:gd name="connsiteY2" fmla="*/ 369552 h 1791149"/>
              <a:gd name="connsiteX3" fmla="*/ 1899194 w 1941949"/>
              <a:gd name="connsiteY3" fmla="*/ 1108655 h 1791149"/>
              <a:gd name="connsiteX4" fmla="*/ 685251 w 1941949"/>
              <a:gd name="connsiteY4" fmla="*/ 1745872 h 1791149"/>
              <a:gd name="connsiteX5" fmla="*/ 42880 w 1941949"/>
              <a:gd name="connsiteY5" fmla="*/ 535332 h 1791149"/>
              <a:gd name="connsiteX6" fmla="*/ 453860 w 1941949"/>
              <a:gd name="connsiteY6" fmla="*/ 0 h 179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1949" h="1791149">
                <a:moveTo>
                  <a:pt x="453860" y="0"/>
                </a:moveTo>
                <a:cubicBezTo>
                  <a:pt x="579916" y="207225"/>
                  <a:pt x="778499" y="373005"/>
                  <a:pt x="1034066" y="450715"/>
                </a:cubicBezTo>
                <a:cubicBezTo>
                  <a:pt x="1310354" y="537059"/>
                  <a:pt x="1595277" y="495614"/>
                  <a:pt x="1831849" y="369552"/>
                </a:cubicBezTo>
                <a:cubicBezTo>
                  <a:pt x="1942364" y="587138"/>
                  <a:pt x="1978627" y="854804"/>
                  <a:pt x="1899194" y="1108655"/>
                </a:cubicBezTo>
                <a:cubicBezTo>
                  <a:pt x="1742055" y="1619810"/>
                  <a:pt x="1199839" y="1908198"/>
                  <a:pt x="685251" y="1745872"/>
                </a:cubicBezTo>
                <a:cubicBezTo>
                  <a:pt x="174117" y="1588726"/>
                  <a:pt x="-114259" y="1046487"/>
                  <a:pt x="42880" y="535332"/>
                </a:cubicBezTo>
                <a:cubicBezTo>
                  <a:pt x="115406" y="300477"/>
                  <a:pt x="265638" y="120881"/>
                  <a:pt x="453860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0" tIns="18288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xmlns="" id="{C7EA9A7C-506B-779B-8885-A3AFCDAF9A8F}"/>
              </a:ext>
            </a:extLst>
          </p:cNvPr>
          <p:cNvSpPr txBox="1"/>
          <p:nvPr/>
        </p:nvSpPr>
        <p:spPr>
          <a:xfrm>
            <a:off x="1740648" y="2080081"/>
            <a:ext cx="2165978" cy="338554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/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Strenghts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 (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Forças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)</a:t>
            </a:r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xmlns="" id="{D3A83FC2-2BA3-4411-C6C1-5188B76A0B48}"/>
              </a:ext>
            </a:extLst>
          </p:cNvPr>
          <p:cNvSpPr txBox="1"/>
          <p:nvPr/>
        </p:nvSpPr>
        <p:spPr>
          <a:xfrm>
            <a:off x="1087092" y="2441529"/>
            <a:ext cx="2819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/>
            <a:r>
              <a:rPr lang="pt-PT" sz="1200" dirty="0">
                <a:latin typeface="Montserrat" panose="00000500000000000000" pitchFamily="2" charset="0"/>
              </a:rPr>
              <a:t>Integração dos processos clínicos, administrativos, logísticos, financeiros e estatísticos numa única plataforma. </a:t>
            </a:r>
            <a:endParaRPr lang="pt-BR" sz="1200" b="0" i="0" dirty="0">
              <a:solidFill>
                <a:srgbClr val="2A2B2C"/>
              </a:solidFill>
              <a:effectLst/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xmlns="" id="{8808F17A-D976-6F2A-38D8-9A4CA1974C72}"/>
              </a:ext>
            </a:extLst>
          </p:cNvPr>
          <p:cNvSpPr txBox="1"/>
          <p:nvPr/>
        </p:nvSpPr>
        <p:spPr>
          <a:xfrm>
            <a:off x="8293200" y="2246050"/>
            <a:ext cx="2853666" cy="338554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Weaknesses (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Fraquezas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)</a:t>
            </a:r>
          </a:p>
        </p:txBody>
      </p:sp>
      <p:sp>
        <p:nvSpPr>
          <p:cNvPr id="9" name="TextBox 23">
            <a:extLst>
              <a:ext uri="{FF2B5EF4-FFF2-40B4-BE49-F238E27FC236}">
                <a16:creationId xmlns:a16="http://schemas.microsoft.com/office/drawing/2014/main" xmlns="" id="{64C92B21-A2A7-6A84-2930-D88E8B32722F}"/>
              </a:ext>
            </a:extLst>
          </p:cNvPr>
          <p:cNvSpPr txBox="1"/>
          <p:nvPr/>
        </p:nvSpPr>
        <p:spPr>
          <a:xfrm>
            <a:off x="8310266" y="2629629"/>
            <a:ext cx="2819534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pt-PT" sz="1200" dirty="0">
                <a:latin typeface="Montserrat" panose="00000500000000000000" pitchFamily="2" charset="0"/>
              </a:rPr>
              <a:t>Implementação faseada (MVP), o que significa que nem todas as funcionalidades estarão disponíveis inicialmente.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Box 24">
            <a:extLst>
              <a:ext uri="{FF2B5EF4-FFF2-40B4-BE49-F238E27FC236}">
                <a16:creationId xmlns:a16="http://schemas.microsoft.com/office/drawing/2014/main" xmlns="" id="{B81A0C7F-7BDD-46CC-6F72-88A1DFB82A84}"/>
              </a:ext>
            </a:extLst>
          </p:cNvPr>
          <p:cNvSpPr txBox="1"/>
          <p:nvPr/>
        </p:nvSpPr>
        <p:spPr>
          <a:xfrm>
            <a:off x="1950139" y="4126483"/>
            <a:ext cx="2008095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Opportunities (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Oportunidades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)</a:t>
            </a:r>
          </a:p>
        </p:txBody>
      </p:sp>
      <p:sp>
        <p:nvSpPr>
          <p:cNvPr id="11" name="TextBox 25">
            <a:extLst>
              <a:ext uri="{FF2B5EF4-FFF2-40B4-BE49-F238E27FC236}">
                <a16:creationId xmlns:a16="http://schemas.microsoft.com/office/drawing/2014/main" xmlns="" id="{1B7AEC5E-1654-8F34-A948-53037B8E7482}"/>
              </a:ext>
            </a:extLst>
          </p:cNvPr>
          <p:cNvSpPr txBox="1"/>
          <p:nvPr/>
        </p:nvSpPr>
        <p:spPr>
          <a:xfrm>
            <a:off x="1087092" y="4847108"/>
            <a:ext cx="2819534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pt-PT" sz="1200" dirty="0">
                <a:latin typeface="Montserrat" panose="00000500000000000000" pitchFamily="2" charset="0"/>
              </a:rPr>
              <a:t>Expansão do sistema para níveis municipal, provincial e nacional</a:t>
            </a:r>
            <a:r>
              <a:rPr lang="pt-PT" sz="1200" dirty="0" smtClean="0">
                <a:latin typeface="Montserrat" panose="00000500000000000000" pitchFamily="2" charset="0"/>
              </a:rPr>
              <a:t>.</a:t>
            </a:r>
            <a:br>
              <a:rPr lang="pt-PT" sz="1200" dirty="0" smtClean="0">
                <a:latin typeface="Montserrat" panose="00000500000000000000" pitchFamily="2" charset="0"/>
              </a:rPr>
            </a:br>
            <a:r>
              <a:rPr lang="pt-PT" sz="1200" dirty="0">
                <a:latin typeface="Montserrat" panose="00000500000000000000" pitchFamily="2" charset="0"/>
              </a:rPr>
              <a:t>Melhor planeamento e tomada de decisão baseada em indicadores em todos os níveis da gestão hospitalar.</a:t>
            </a:r>
            <a:r>
              <a:rPr lang="pt-PT" sz="1200" dirty="0" smtClean="0">
                <a:latin typeface="Montserrat" panose="00000500000000000000" pitchFamily="2" charset="0"/>
              </a:rPr>
              <a:t> 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xmlns="" id="{F31D011F-CC86-FC17-94E4-EAE6B07A3FCB}"/>
              </a:ext>
            </a:extLst>
          </p:cNvPr>
          <p:cNvSpPr txBox="1"/>
          <p:nvPr/>
        </p:nvSpPr>
        <p:spPr>
          <a:xfrm>
            <a:off x="8310266" y="4126483"/>
            <a:ext cx="2186817" cy="338554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Threats (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Ameaças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)</a:t>
            </a:r>
          </a:p>
        </p:txBody>
      </p:sp>
      <p:sp>
        <p:nvSpPr>
          <p:cNvPr id="13" name="TextBox 28">
            <a:extLst>
              <a:ext uri="{FF2B5EF4-FFF2-40B4-BE49-F238E27FC236}">
                <a16:creationId xmlns:a16="http://schemas.microsoft.com/office/drawing/2014/main" xmlns="" id="{3F538F6D-DDE0-E2D6-13A5-D55F9F3D6182}"/>
              </a:ext>
            </a:extLst>
          </p:cNvPr>
          <p:cNvSpPr txBox="1"/>
          <p:nvPr/>
        </p:nvSpPr>
        <p:spPr>
          <a:xfrm>
            <a:off x="8293200" y="4534661"/>
            <a:ext cx="2819534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pt-PT" sz="1200" dirty="0">
                <a:latin typeface="Montserrat" panose="00000500000000000000" pitchFamily="2" charset="0"/>
              </a:rPr>
              <a:t>Resistência dos utilizadores à mudança dos processos tradicionais. 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xmlns="" id="{52BC4358-6C70-49E1-2831-7521DB2EFD8A}"/>
              </a:ext>
            </a:extLst>
          </p:cNvPr>
          <p:cNvSpPr txBox="1"/>
          <p:nvPr/>
        </p:nvSpPr>
        <p:spPr>
          <a:xfrm>
            <a:off x="1048821" y="579884"/>
            <a:ext cx="60960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Discussão dos resultados</a:t>
            </a:r>
            <a:endParaRPr lang="pt-BR" sz="28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63CBA716-069B-CAAC-387C-604EFC39D7A1}"/>
              </a:ext>
            </a:extLst>
          </p:cNvPr>
          <p:cNvSpPr/>
          <p:nvPr/>
        </p:nvSpPr>
        <p:spPr>
          <a:xfrm>
            <a:off x="883475" y="579884"/>
            <a:ext cx="45719" cy="436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310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332C6F-6401-0461-089E-D97ABD3D0EE0}"/>
              </a:ext>
            </a:extLst>
          </p:cNvPr>
          <p:cNvSpPr/>
          <p:nvPr/>
        </p:nvSpPr>
        <p:spPr>
          <a:xfrm>
            <a:off x="9956800" y="0"/>
            <a:ext cx="22352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xmlns="" id="{4532C730-C296-6479-FFA7-EF56753B99B7}"/>
              </a:ext>
            </a:extLst>
          </p:cNvPr>
          <p:cNvSpPr/>
          <p:nvPr/>
        </p:nvSpPr>
        <p:spPr>
          <a:xfrm>
            <a:off x="632178" y="1049871"/>
            <a:ext cx="9324622" cy="47758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xmlns="" id="{702C1450-E985-CA1A-F1FF-0C07CFCF30EA}"/>
              </a:ext>
            </a:extLst>
          </p:cNvPr>
          <p:cNvSpPr/>
          <p:nvPr/>
        </p:nvSpPr>
        <p:spPr>
          <a:xfrm>
            <a:off x="3027176" y="1236529"/>
            <a:ext cx="55456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Montserrat" panose="02000505000000020004" pitchFamily="2" charset="0"/>
              </a:rPr>
              <a:t>Considerações Finais</a:t>
            </a:r>
            <a:endParaRPr lang="en-US" sz="3200" b="1" dirty="0">
              <a:solidFill>
                <a:schemeClr val="bg1"/>
              </a:solidFill>
              <a:latin typeface="Montserrat" panose="02000505000000020004" pitchFamily="2" charset="0"/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xmlns="" id="{D6F7F464-1D2A-EC90-ACFD-E4B9FA1A1255}"/>
              </a:ext>
            </a:extLst>
          </p:cNvPr>
          <p:cNvSpPr txBox="1"/>
          <p:nvPr/>
        </p:nvSpPr>
        <p:spPr>
          <a:xfrm>
            <a:off x="1034996" y="1821304"/>
            <a:ext cx="8518986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400" dirty="0" smtClean="0">
                <a:solidFill>
                  <a:schemeClr val="bg1"/>
                </a:solidFill>
                <a:latin typeface="Montserrat" panose="00000500000000000000" pitchFamily="2" charset="0"/>
              </a:rPr>
              <a:t>O 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SIGH-ANGOLA deverá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ser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entendido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não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apenas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como um software de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gestão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hospitalar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, mas como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uma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infraestrutura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digital de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apoio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à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transformação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dos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serviços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de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saúde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.</a:t>
            </a:r>
            <a:endParaRPr lang="pt-BR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just"/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O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impacto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esperado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deverá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manifestar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-se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em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três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dimensões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principais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:</a:t>
            </a:r>
            <a:endParaRPr lang="pt-BR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just"/>
            <a:r>
              <a:rPr lang="en-GB" sz="14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DIMENSÃO SOCIAL</a:t>
            </a:r>
            <a:endParaRPr lang="pt-BR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just"/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Melhor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serviço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→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melhor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atendimento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→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maior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segurança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→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melhor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experiência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do paciente.</a:t>
            </a:r>
            <a:endParaRPr lang="pt-BR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just"/>
            <a:r>
              <a:rPr lang="en-GB" sz="14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DIMENSÃO FINANCEIRA</a:t>
            </a:r>
            <a:endParaRPr lang="pt-BR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just"/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Menos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desperdício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→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melhor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controlo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→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maior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produtividade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→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utilização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mais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eficiente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dos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recursos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.</a:t>
            </a:r>
            <a:endParaRPr lang="pt-BR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just"/>
            <a:r>
              <a:rPr lang="en-GB" sz="14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DIMENSÃO INSTITUCIONAL</a:t>
            </a:r>
            <a:endParaRPr lang="pt-BR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just"/>
            <a:r>
              <a:rPr lang="en-GB" sz="14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Dados de </a:t>
            </a:r>
            <a:r>
              <a:rPr lang="en-GB" sz="1400" b="1" i="1" dirty="0" err="1">
                <a:solidFill>
                  <a:schemeClr val="bg1"/>
                </a:solidFill>
                <a:latin typeface="Montserrat" panose="00000500000000000000" pitchFamily="2" charset="0"/>
              </a:rPr>
              <a:t>qualidade</a:t>
            </a:r>
            <a:r>
              <a:rPr lang="en-GB" sz="14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 → </a:t>
            </a:r>
            <a:r>
              <a:rPr lang="en-GB" sz="1400" b="1" i="1" dirty="0" err="1">
                <a:solidFill>
                  <a:schemeClr val="bg1"/>
                </a:solidFill>
                <a:latin typeface="Montserrat" panose="00000500000000000000" pitchFamily="2" charset="0"/>
              </a:rPr>
              <a:t>melhores</a:t>
            </a:r>
            <a:r>
              <a:rPr lang="en-GB" sz="14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b="1" i="1" dirty="0" err="1">
                <a:solidFill>
                  <a:schemeClr val="bg1"/>
                </a:solidFill>
                <a:latin typeface="Montserrat" panose="00000500000000000000" pitchFamily="2" charset="0"/>
              </a:rPr>
              <a:t>indicadores</a:t>
            </a:r>
            <a:r>
              <a:rPr lang="en-GB" sz="14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 → </a:t>
            </a:r>
            <a:r>
              <a:rPr lang="en-GB" sz="1400" b="1" i="1" dirty="0" err="1">
                <a:solidFill>
                  <a:schemeClr val="bg1"/>
                </a:solidFill>
                <a:latin typeface="Montserrat" panose="00000500000000000000" pitchFamily="2" charset="0"/>
              </a:rPr>
              <a:t>melhor</a:t>
            </a:r>
            <a:r>
              <a:rPr lang="en-GB" sz="14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b="1" i="1" dirty="0" err="1">
                <a:solidFill>
                  <a:schemeClr val="bg1"/>
                </a:solidFill>
                <a:latin typeface="Montserrat" panose="00000500000000000000" pitchFamily="2" charset="0"/>
              </a:rPr>
              <a:t>planeamento</a:t>
            </a:r>
            <a:r>
              <a:rPr lang="en-GB" sz="14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 → </a:t>
            </a:r>
            <a:r>
              <a:rPr lang="en-GB" sz="1400" b="1" i="1" dirty="0" err="1">
                <a:solidFill>
                  <a:schemeClr val="bg1"/>
                </a:solidFill>
                <a:latin typeface="Montserrat" panose="00000500000000000000" pitchFamily="2" charset="0"/>
              </a:rPr>
              <a:t>melhores</a:t>
            </a:r>
            <a:r>
              <a:rPr lang="en-GB" sz="14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b="1" i="1" dirty="0" err="1">
                <a:solidFill>
                  <a:schemeClr val="bg1"/>
                </a:solidFill>
                <a:latin typeface="Montserrat" panose="00000500000000000000" pitchFamily="2" charset="0"/>
              </a:rPr>
              <a:t>decisões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.</a:t>
            </a:r>
            <a:endParaRPr lang="pt-BR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just"/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Deste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modo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, o SIGH-ANGOLA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pretende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contribuir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para a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construção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de um sistema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hospitalar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mais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eficiente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, digital,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integrado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sustentável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e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orientado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por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dados,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tendo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como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uma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das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suas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principais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características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a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capacidade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de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funcionar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em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ambientes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com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limitações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de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conectividade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através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da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arquitetura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Offline-First</a:t>
            </a:r>
            <a:r>
              <a:rPr lang="en-GB" sz="1400" dirty="0" smtClean="0">
                <a:solidFill>
                  <a:schemeClr val="bg1"/>
                </a:solidFill>
                <a:latin typeface="Montserrat" panose="00000500000000000000" pitchFamily="2" charset="0"/>
              </a:rPr>
              <a:t>.</a:t>
            </a:r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just"/>
            <a:endParaRPr lang="pt-BR" sz="9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7805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942</Words>
  <Application>Microsoft Office PowerPoint</Application>
  <PresentationFormat>Widescreen</PresentationFormat>
  <Paragraphs>196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Lato</vt:lpstr>
      <vt:lpstr>Montserrat</vt:lpstr>
      <vt:lpstr>Roboto</vt:lpstr>
      <vt:lpstr>Segoe UI Light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Edição Hashtag</dc:creator>
  <cp:lastModifiedBy>TASK FORCE-A</cp:lastModifiedBy>
  <cp:revision>20</cp:revision>
  <dcterms:created xsi:type="dcterms:W3CDTF">2022-05-23T14:36:17Z</dcterms:created>
  <dcterms:modified xsi:type="dcterms:W3CDTF">2026-08-14T10:29:44Z</dcterms:modified>
</cp:coreProperties>
</file>